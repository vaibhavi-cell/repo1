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slides/charts/chart1.xml" ContentType="application/vnd.openxmlformats-officedocument.drawingml.chart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slides/charts/chart2.xml" ContentType="application/vnd.openxmlformats-officedocument.drawingml.chart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slides/charts/chart3.xml" ContentType="application/vnd.openxmlformats-officedocument.drawingml.chart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slides/charts/chart4.xml" ContentType="application/vnd.openxmlformats-officedocument.drawingml.chart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slides/charts/chart5.xml" ContentType="application/vnd.openxmlformats-officedocument.drawingml.chart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slides/charts/chart6.xml" ContentType="application/vnd.openxmlformats-officedocument.drawingml.chart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slides/charts/chart7.xml" ContentType="application/vnd.openxmlformats-officedocument.drawingml.chart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slides/charts/chart8.xml" ContentType="application/vnd.openxmlformats-officedocument.drawingml.chart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slides/charts/chart9.xml" ContentType="application/vnd.openxmlformats-officedocument.drawingml.chart+xml"/>
  <Override PartName="/ppt/slides/charts/chart10.xml" ContentType="application/vnd.openxmlformats-officedocument.drawingml.chart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25.xml" ContentType="application/vnd.openxmlformats-officedocument.presentationml.notesSlide+xml"/>
  <Override PartName="/ppt/slides/slide26.xml" ContentType="application/vnd.openxmlformats-officedocument.presentationml.slide+xml"/>
  <Override PartName="/ppt/notesSlides/notesSlide26.xml" ContentType="application/vnd.openxmlformats-officedocument.presentationml.notesSlide+xml"/>
  <Override PartName="/ppt/slides/slide27.xml" ContentType="application/vnd.openxmlformats-officedocument.presentationml.slide+xml"/>
  <Override PartName="/ppt/notesSlides/notesSlide27.xml" ContentType="application/vnd.openxmlformats-officedocument.presentationml.notesSlide+xml"/>
  <Override PartName="/ppt/slides/slide28.xml" ContentType="application/vnd.openxmlformats-officedocument.presentationml.slide+xml"/>
  <Override PartName="/ppt/notesSlides/notesSlide28.xml" ContentType="application/vnd.openxmlformats-officedocument.presentationml.notesSlide+xml"/>
  <Default Extension="xlsx" ContentType="application/vnd.openxmlformats-officedocument.spreadsheetml.sheet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9635969b226442f9" /><Relationship Type="http://schemas.openxmlformats.org/officeDocument/2006/relationships/extended-properties" Target="/docProps/app.xml" Id="R4b1b3f4076424ac6" /><Relationship Type="http://schemas.openxmlformats.org/officeDocument/2006/relationships/officeDocument" Target="/ppt/presentation.xml" Id="Rd3a399e471304d0b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40ea5496f9294525"/>
  </p:sldMasterIdLst>
  <p:notesMasterIdLst>
    <p:notesMasterId xmlns:r="http://schemas.openxmlformats.org/officeDocument/2006/relationships" r:id="R0fd6186a051f4ae2"/>
  </p:notesMasterIdLst>
  <p:sldIdLst>
    <p:sldId xmlns:r="http://schemas.openxmlformats.org/officeDocument/2006/relationships" id="256" r:id="R942ce078ed5844ef"/>
    <p:sldId xmlns:r="http://schemas.openxmlformats.org/officeDocument/2006/relationships" id="257" r:id="R9b57269264604dea"/>
    <p:sldId xmlns:r="http://schemas.openxmlformats.org/officeDocument/2006/relationships" id="258" r:id="R116b6232a26e4694"/>
    <p:sldId xmlns:r="http://schemas.openxmlformats.org/officeDocument/2006/relationships" id="259" r:id="R650398211e1d44ca"/>
    <p:sldId xmlns:r="http://schemas.openxmlformats.org/officeDocument/2006/relationships" id="260" r:id="R3ce5ac95a591467e"/>
    <p:sldId xmlns:r="http://schemas.openxmlformats.org/officeDocument/2006/relationships" id="261" r:id="Rd1b2fb8d17574162"/>
    <p:sldId xmlns:r="http://schemas.openxmlformats.org/officeDocument/2006/relationships" id="262" r:id="Rff0aed4688f64426"/>
    <p:sldId xmlns:r="http://schemas.openxmlformats.org/officeDocument/2006/relationships" id="263" r:id="R359cfa0abc1a45a3"/>
    <p:sldId xmlns:r="http://schemas.openxmlformats.org/officeDocument/2006/relationships" id="264" r:id="R7202e53770144fba"/>
    <p:sldId xmlns:r="http://schemas.openxmlformats.org/officeDocument/2006/relationships" id="265" r:id="Rb9ef6988b7e64a78"/>
    <p:sldId xmlns:r="http://schemas.openxmlformats.org/officeDocument/2006/relationships" id="266" r:id="R2b3e6900777548b2"/>
    <p:sldId xmlns:r="http://schemas.openxmlformats.org/officeDocument/2006/relationships" id="267" r:id="Rc71d380ddbb94bef"/>
    <p:sldId xmlns:r="http://schemas.openxmlformats.org/officeDocument/2006/relationships" id="268" r:id="R2d051a2b103e450d"/>
    <p:sldId xmlns:r="http://schemas.openxmlformats.org/officeDocument/2006/relationships" id="269" r:id="R8ee86dcf68bd420d"/>
    <p:sldId xmlns:r="http://schemas.openxmlformats.org/officeDocument/2006/relationships" id="270" r:id="Rdf38564f45ec4d25"/>
    <p:sldId xmlns:r="http://schemas.openxmlformats.org/officeDocument/2006/relationships" id="271" r:id="R6e3aad1dc54641ae"/>
    <p:sldId xmlns:r="http://schemas.openxmlformats.org/officeDocument/2006/relationships" id="272" r:id="R4a63d205cec348e9"/>
    <p:sldId xmlns:r="http://schemas.openxmlformats.org/officeDocument/2006/relationships" id="273" r:id="R6d22b7904d514ff7"/>
    <p:sldId xmlns:r="http://schemas.openxmlformats.org/officeDocument/2006/relationships" id="274" r:id="R196c1d8913354133"/>
    <p:sldId xmlns:r="http://schemas.openxmlformats.org/officeDocument/2006/relationships" id="275" r:id="Rf55de189aee84337"/>
    <p:sldId xmlns:r="http://schemas.openxmlformats.org/officeDocument/2006/relationships" id="276" r:id="R37e1913313ea4379"/>
    <p:sldId xmlns:r="http://schemas.openxmlformats.org/officeDocument/2006/relationships" id="277" r:id="R6365ca294b21487c"/>
    <p:sldId xmlns:r="http://schemas.openxmlformats.org/officeDocument/2006/relationships" id="278" r:id="R9b7ef0d296cc4759"/>
    <p:sldId xmlns:r="http://schemas.openxmlformats.org/officeDocument/2006/relationships" id="279" r:id="R4d8f9758500241fb"/>
    <p:sldId xmlns:r="http://schemas.openxmlformats.org/officeDocument/2006/relationships" id="280" r:id="R8fa284a719ad4dda"/>
    <p:sldId xmlns:r="http://schemas.openxmlformats.org/officeDocument/2006/relationships" id="281" r:id="Rb369ac26ffbc43d8"/>
    <p:sldId xmlns:r="http://schemas.openxmlformats.org/officeDocument/2006/relationships" id="282" r:id="Rebc92bb4fa24471d"/>
    <p:sldId xmlns:r="http://schemas.openxmlformats.org/officeDocument/2006/relationships" id="283" r:id="Rbbd7d25fa26b4ba7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cccee1fe1f264d64" /><Relationship Type="http://schemas.openxmlformats.org/officeDocument/2006/relationships/slideMaster" Target="/ppt/slideMasters/slideMaster1.xml" Id="R40ea5496f9294525" /><Relationship Type="http://schemas.openxmlformats.org/officeDocument/2006/relationships/notesMaster" Target="/ppt/notesMasters/notesMaster1.xml" Id="R0fd6186a051f4ae2" /><Relationship Type="http://schemas.openxmlformats.org/officeDocument/2006/relationships/presProps" Target="/ppt/presProps.xml" Id="R78044c1a11c549c4" /><Relationship Type="http://schemas.openxmlformats.org/officeDocument/2006/relationships/tableStyles" Target="/ppt/tableStyles.xml" Id="R800eb34bff894ee1" /><Relationship Type="http://schemas.openxmlformats.org/officeDocument/2006/relationships/slide" Target="/ppt/slides/slide1.xml" Id="R942ce078ed5844ef" /><Relationship Type="http://schemas.openxmlformats.org/officeDocument/2006/relationships/slide" Target="/ppt/slides/slide2.xml" Id="R9b57269264604dea" /><Relationship Type="http://schemas.openxmlformats.org/officeDocument/2006/relationships/slide" Target="/ppt/slides/slide3.xml" Id="R116b6232a26e4694" /><Relationship Type="http://schemas.openxmlformats.org/officeDocument/2006/relationships/slide" Target="/ppt/slides/slide4.xml" Id="R650398211e1d44ca" /><Relationship Type="http://schemas.openxmlformats.org/officeDocument/2006/relationships/slide" Target="/ppt/slides/slide5.xml" Id="R3ce5ac95a591467e" /><Relationship Type="http://schemas.openxmlformats.org/officeDocument/2006/relationships/slide" Target="/ppt/slides/slide6.xml" Id="Rd1b2fb8d17574162" /><Relationship Type="http://schemas.openxmlformats.org/officeDocument/2006/relationships/slide" Target="/ppt/slides/slide7.xml" Id="Rff0aed4688f64426" /><Relationship Type="http://schemas.openxmlformats.org/officeDocument/2006/relationships/slide" Target="/ppt/slides/slide8.xml" Id="R359cfa0abc1a45a3" /><Relationship Type="http://schemas.openxmlformats.org/officeDocument/2006/relationships/slide" Target="/ppt/slides/slide9.xml" Id="R7202e53770144fba" /><Relationship Type="http://schemas.openxmlformats.org/officeDocument/2006/relationships/slide" Target="/ppt/slides/slide10.xml" Id="Rb9ef6988b7e64a78" /><Relationship Type="http://schemas.openxmlformats.org/officeDocument/2006/relationships/slide" Target="/ppt/slides/slide11.xml" Id="R2b3e6900777548b2" /><Relationship Type="http://schemas.openxmlformats.org/officeDocument/2006/relationships/slide" Target="/ppt/slides/slide12.xml" Id="Rc71d380ddbb94bef" /><Relationship Type="http://schemas.openxmlformats.org/officeDocument/2006/relationships/slide" Target="/ppt/slides/slide13.xml" Id="R2d051a2b103e450d" /><Relationship Type="http://schemas.openxmlformats.org/officeDocument/2006/relationships/slide" Target="/ppt/slides/slide14.xml" Id="R8ee86dcf68bd420d" /><Relationship Type="http://schemas.openxmlformats.org/officeDocument/2006/relationships/slide" Target="/ppt/slides/slide15.xml" Id="Rdf38564f45ec4d25" /><Relationship Type="http://schemas.openxmlformats.org/officeDocument/2006/relationships/slide" Target="/ppt/slides/slide16.xml" Id="R6e3aad1dc54641ae" /><Relationship Type="http://schemas.openxmlformats.org/officeDocument/2006/relationships/slide" Target="/ppt/slides/slide17.xml" Id="R4a63d205cec348e9" /><Relationship Type="http://schemas.openxmlformats.org/officeDocument/2006/relationships/slide" Target="/ppt/slides/slide18.xml" Id="R6d22b7904d514ff7" /><Relationship Type="http://schemas.openxmlformats.org/officeDocument/2006/relationships/slide" Target="/ppt/slides/slide19.xml" Id="R196c1d8913354133" /><Relationship Type="http://schemas.openxmlformats.org/officeDocument/2006/relationships/slide" Target="/ppt/slides/slide20.xml" Id="Rf55de189aee84337" /><Relationship Type="http://schemas.openxmlformats.org/officeDocument/2006/relationships/slide" Target="/ppt/slides/slide21.xml" Id="R37e1913313ea4379" /><Relationship Type="http://schemas.openxmlformats.org/officeDocument/2006/relationships/slide" Target="/ppt/slides/slide22.xml" Id="R6365ca294b21487c" /><Relationship Type="http://schemas.openxmlformats.org/officeDocument/2006/relationships/slide" Target="/ppt/slides/slide23.xml" Id="R9b7ef0d296cc4759" /><Relationship Type="http://schemas.openxmlformats.org/officeDocument/2006/relationships/slide" Target="/ppt/slides/slide24.xml" Id="R4d8f9758500241fb" /><Relationship Type="http://schemas.openxmlformats.org/officeDocument/2006/relationships/slide" Target="/ppt/slides/slide25.xml" Id="R8fa284a719ad4dda" /><Relationship Type="http://schemas.openxmlformats.org/officeDocument/2006/relationships/slide" Target="/ppt/slides/slide26.xml" Id="Rb369ac26ffbc43d8" /><Relationship Type="http://schemas.openxmlformats.org/officeDocument/2006/relationships/slide" Target="/ppt/slides/slide27.xml" Id="Rebc92bb4fa24471d" /><Relationship Type="http://schemas.openxmlformats.org/officeDocument/2006/relationships/slide" Target="/ppt/slides/slide28.xml" Id="Rbbd7d25fa26b4ba7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9c435d65c9c44322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157fd786347040e7" /><Relationship Type="http://schemas.openxmlformats.org/officeDocument/2006/relationships/notesMaster" Target="/ppt/notesMasters/notesMaster1.xml" Id="R3bb39a2c01554b40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5c7b1d48a7f34eb6" /><Relationship Type="http://schemas.openxmlformats.org/officeDocument/2006/relationships/notesMaster" Target="/ppt/notesMasters/notesMaster1.xml" Id="R18d45bb609bd4480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4a201eac330b4a34" /><Relationship Type="http://schemas.openxmlformats.org/officeDocument/2006/relationships/notesMaster" Target="/ppt/notesMasters/notesMaster1.xml" Id="R83c0f0d2e2ba4e1a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0389892d7d784abc" /><Relationship Type="http://schemas.openxmlformats.org/officeDocument/2006/relationships/notesMaster" Target="/ppt/notesMasters/notesMaster1.xml" Id="Re0ffec17dd4a40d9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a3d2f39de6f8426b" /><Relationship Type="http://schemas.openxmlformats.org/officeDocument/2006/relationships/notesMaster" Target="/ppt/notesMasters/notesMaster1.xml" Id="Re88eff98321a4036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f4068a5586cf4972" /><Relationship Type="http://schemas.openxmlformats.org/officeDocument/2006/relationships/notesMaster" Target="/ppt/notesMasters/notesMaster1.xml" Id="Raea812378f2c43ce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1538a44f05a34b9a" /><Relationship Type="http://schemas.openxmlformats.org/officeDocument/2006/relationships/notesMaster" Target="/ppt/notesMasters/notesMaster1.xml" Id="R9997ac0df2d24714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00dc7b50cc304152" /><Relationship Type="http://schemas.openxmlformats.org/officeDocument/2006/relationships/notesMaster" Target="/ppt/notesMasters/notesMaster1.xml" Id="R9f403a6daeb94c5b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e0e0aec255514854" /><Relationship Type="http://schemas.openxmlformats.org/officeDocument/2006/relationships/notesMaster" Target="/ppt/notesMasters/notesMaster1.xml" Id="R8b1c9f8772b441eb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75300ca2b98a4430" /><Relationship Type="http://schemas.openxmlformats.org/officeDocument/2006/relationships/notesMaster" Target="/ppt/notesMasters/notesMaster1.xml" Id="Raf00938450e9404d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73f4bef85a6b4612" /><Relationship Type="http://schemas.openxmlformats.org/officeDocument/2006/relationships/notesMaster" Target="/ppt/notesMasters/notesMaster1.xml" Id="R62cfc41cb3434e38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8009c01d5eed4cd3" /><Relationship Type="http://schemas.openxmlformats.org/officeDocument/2006/relationships/notesMaster" Target="/ppt/notesMasters/notesMaster1.xml" Id="R0e6bb83059084d5f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bbd3259e1c2e407f" /><Relationship Type="http://schemas.openxmlformats.org/officeDocument/2006/relationships/notesMaster" Target="/ppt/notesMasters/notesMaster1.xml" Id="R0dbe6d9603ef43c9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47dcd139383e4847" /><Relationship Type="http://schemas.openxmlformats.org/officeDocument/2006/relationships/notesMaster" Target="/ppt/notesMasters/notesMaster1.xml" Id="R9f4545185cec49ca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268f697403fc41c3" /><Relationship Type="http://schemas.openxmlformats.org/officeDocument/2006/relationships/notesMaster" Target="/ppt/notesMasters/notesMaster1.xml" Id="R4c4c1ce40bb043da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208358187db34aff" /><Relationship Type="http://schemas.openxmlformats.org/officeDocument/2006/relationships/notesMaster" Target="/ppt/notesMasters/notesMaster1.xml" Id="Rb605c8776bc44de9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ed6c517be80b4ba8" /><Relationship Type="http://schemas.openxmlformats.org/officeDocument/2006/relationships/notesMaster" Target="/ppt/notesMasters/notesMaster1.xml" Id="Rb5fd90351255448b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f9fe6aa135fa4cc3" /><Relationship Type="http://schemas.openxmlformats.org/officeDocument/2006/relationships/notesMaster" Target="/ppt/notesMasters/notesMaster1.xml" Id="R4f0659b739184c90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716f00bb479a43bd" /><Relationship Type="http://schemas.openxmlformats.org/officeDocument/2006/relationships/notesMaster" Target="/ppt/notesMasters/notesMaster1.xml" Id="R019ed6f791da4cac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2e04c7511a4d4100" /><Relationship Type="http://schemas.openxmlformats.org/officeDocument/2006/relationships/notesMaster" Target="/ppt/notesMasters/notesMaster1.xml" Id="Rf96db07bb1c84bdc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64afd5b4ba8d460b" /><Relationship Type="http://schemas.openxmlformats.org/officeDocument/2006/relationships/notesMaster" Target="/ppt/notesMasters/notesMaster1.xml" Id="R48f9a23b494a401b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3e80761e932b4142" /><Relationship Type="http://schemas.openxmlformats.org/officeDocument/2006/relationships/notesMaster" Target="/ppt/notesMasters/notesMaster1.xml" Id="R764ca8a249764a41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1e47fe9d979a4f6a" /><Relationship Type="http://schemas.openxmlformats.org/officeDocument/2006/relationships/notesMaster" Target="/ppt/notesMasters/notesMaster1.xml" Id="Rac528b0d159c4c75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fe612827499c4efd" /><Relationship Type="http://schemas.openxmlformats.org/officeDocument/2006/relationships/notesMaster" Target="/ppt/notesMasters/notesMaster1.xml" Id="R6913edabe8e344c4" /></Relationships>
</file>

<file path=ppt/notesSlides/_rels/notesSlide25.xml.rels>&#65279;<?xml version="1.0" encoding="utf-8"?><Relationships xmlns="http://schemas.openxmlformats.org/package/2006/relationships"><Relationship Type="http://schemas.openxmlformats.org/officeDocument/2006/relationships/slide" Target="/ppt/slides/slide25.xml" Id="R8c2a6ad3881e4454" /><Relationship Type="http://schemas.openxmlformats.org/officeDocument/2006/relationships/notesMaster" Target="/ppt/notesMasters/notesMaster1.xml" Id="R26a3eed8a5d64b9f" /></Relationships>
</file>

<file path=ppt/notesSlides/_rels/notesSlide26.xml.rels>&#65279;<?xml version="1.0" encoding="utf-8"?><Relationships xmlns="http://schemas.openxmlformats.org/package/2006/relationships"><Relationship Type="http://schemas.openxmlformats.org/officeDocument/2006/relationships/slide" Target="/ppt/slides/slide26.xml" Id="R01c64a6206fa487f" /><Relationship Type="http://schemas.openxmlformats.org/officeDocument/2006/relationships/notesMaster" Target="/ppt/notesMasters/notesMaster1.xml" Id="Re40e86742d1140cf" /></Relationships>
</file>

<file path=ppt/notesSlides/_rels/notesSlide27.xml.rels>&#65279;<?xml version="1.0" encoding="utf-8"?><Relationships xmlns="http://schemas.openxmlformats.org/package/2006/relationships"><Relationship Type="http://schemas.openxmlformats.org/officeDocument/2006/relationships/slide" Target="/ppt/slides/slide27.xml" Id="R1d3219a9da5f4d59" /><Relationship Type="http://schemas.openxmlformats.org/officeDocument/2006/relationships/notesMaster" Target="/ppt/notesMasters/notesMaster1.xml" Id="R38006aabcf9148f8" /></Relationships>
</file>

<file path=ppt/notesSlides/_rels/notesSlide28.xml.rels>&#65279;<?xml version="1.0" encoding="utf-8"?><Relationships xmlns="http://schemas.openxmlformats.org/package/2006/relationships"><Relationship Type="http://schemas.openxmlformats.org/officeDocument/2006/relationships/slide" Target="/ppt/slides/slide28.xml" Id="Rbc3ca5b87c6f47a5" /><Relationship Type="http://schemas.openxmlformats.org/officeDocument/2006/relationships/notesMaster" Target="/ppt/notesMasters/notesMaster1.xml" Id="R4e7f7c13f4c445d7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Explain customer churn and sales analysis in your own words. For a chart, name the measure and the selected filters before discussing the result.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Data source: Customer_Churn_Sales_Data_500(2).xlsx, Sheet1. Report structure: chr(1).pbix and churnnnnn(1).pbix. Slide charts use the Excel data and are not screenshots from Power BI. Reference guidance: https://learn.microsoft.com/en-us/power-bi/transform-model/desktop-measures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Explain about the project in your own words. For a chart, name the measure and the selected filters before discussing the result.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Data source: Customer_Churn_Sales_Data_500(2).xlsx, Sheet1. Report structure: chr(1).pbix and churnnnnn(1).pbix. Slide charts use the Excel data and are not screenshots from Power BI. Reference guidance: https://learn.microsoft.com/en-us/power-bi/transform-model/desktop-measures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Explain dataset summary in your own words. For a chart, name the measure and the selected filters before discussing the result.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Data source: Customer_Churn_Sales_Data_500(2).xlsx, Sheet1. Report structure: chr(1).pbix and churnnnnn(1).pbix. Slide charts use the Excel data and are not screenshots from Power BI. Reference guidance: https://learn.microsoft.com/en-us/power-bi/transform-model/desktop-measures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Explain importing the excel file in your own words. For a chart, name the measure and the selected filters before discussing the result.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Data source: Customer_Churn_Sales_Data_500(2).xlsx, Sheet1. Report structure: chr(1).pbix and churnnnnn(1).pbix. Slide charts use the Excel data and are not screenshots from Power BI. Reference guidance: https://learn.microsoft.com/en-us/power-bi/transform-model/desktop-measures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Explain understanding the data in your own words. For a chart, name the measure and the selected filters before discussing the result.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Data source: Customer_Churn_Sales_Data_500(2).xlsx, Sheet1. Report structure: chr(1).pbix and churnnnnn(1).pbix. Slide charts use the Excel data and are not screenshots from Power BI. Reference guidance: https://learn.microsoft.com/en-us/power-bi/transform-model/desktop-measures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Explain preparing the data in your own words. For a chart, name the measure and the selected filters before discussing the result.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Data source: Customer_Churn_Sales_Data_500(2).xlsx, Sheet1. Report structure: chr(1).pbix and churnnnnn(1).pbix. Slide charts use the Excel data and are not screenshots from Power BI. Reference guidance: https://learn.microsoft.com/en-us/power-bi/transform-model/desktop-measures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Explain sales measures in your own words. For a chart, name the measure and the selected filters before discussing the result.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Data source: Customer_Churn_Sales_Data_500(2).xlsx, Sheet1. Report structure: chr(1).pbix and churnnnnn(1).pbix. Slide charts use the Excel data and are not screenshots from Power BI. Reference guidance: https://learn.microsoft.com/en-us/power-bi/transform-model/desktop-measures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Explain churn measures in your own words. For a chart, name the measure and the selected filters before discussing the result.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Data source: Customer_Churn_Sales_Data_500(2).xlsx, Sheet1. Report structure: chr(1).pbix and churnnnnn(1).pbix. Slide charts use the Excel data and are not screenshots from Power BI. Reference guidance: https://learn.microsoft.com/en-us/power-bi/transform-model/desktop-measures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Explain kpi cards in your own words. For a chart, name the measure and the selected filters before discussing the result.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Data source: Customer_Churn_Sales_Data_500(2).xlsx, Sheet1. Report structure: chr(1).pbix and churnnnnn(1).pbix. Slide charts use the Excel data and are not screenshots from Power BI. Reference guidance: https://learn.microsoft.com/en-us/power-bi/transform-model/desktop-measures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Explain the two report pages in your own words. For a chart, name the measure and the selected filters before discussing the result.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Data source: Customer_Churn_Sales_Data_500(2).xlsx, Sheet1. Report structure: chr(1).pbix and churnnnnn(1).pbix. Slide charts use the Excel data and are not screenshots from Power BI. Reference guidance: https://learn.microsoft.com/en-us/power-bi/transform-model/desktop-measures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Explain product sales donut in your own words. For a chart, name the measure and the selected filters before discussing the result.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Data source: Customer_Churn_Sales_Data_500(2).xlsx, Sheet1. Report structure: chr(1).pbix and churnnnnn(1).pbix. Slide charts use the Excel data and are not screenshots from Power BI. Reference guidance: https://learn.microsoft.com/en-us/power-bi/transform-model/desktop-measures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Explain sales by product in your own words. For a chart, name the measure and the selected filters before discussing the result.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Data source: Customer_Churn_Sales_Data_500(2).xlsx, Sheet1. Report structure: chr(1).pbix and churnnnnn(1).pbix. Slide charts use the Excel data and are not screenshots from Power BI. Reference guidance: https://learn.microsoft.com/en-us/power-bi/transform-model/desktop-measures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Explain orders by product in your own words. For a chart, name the measure and the selected filters before discussing the result.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Data source: Customer_Churn_Sales_Data_500(2).xlsx, Sheet1. Report structure: chr(1).pbix and churnnnnn(1).pbix. Slide charts use the Excel data and are not screenshots from Power BI. Reference guidance: https://learn.microsoft.com/en-us/power-bi/transform-model/desktop-measures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Explain sales by city in your own words. For a chart, name the measure and the selected filters before discussing the result.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Data source: Customer_Churn_Sales_Data_500(2).xlsx, Sheet1. Report structure: chr(1).pbix and churnnnnn(1).pbix. Slide charts use the Excel data and are not screenshots from Power BI. Reference guidance: https://learn.microsoft.com/en-us/power-bi/transform-model/desktop-measures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Explain churn by customer type in your own words. For a chart, name the measure and the selected filters before discussing the result.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Data source: Customer_Churn_Sales_Data_500(2).xlsx, Sheet1. Report structure: chr(1).pbix and churnnnnn(1).pbix. Slide charts use the Excel data and are not screenshots from Power BI. Reference guidance: https://learn.microsoft.com/en-us/power-bi/transform-model/desktop-measures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Explain churn by gender in your own words. For a chart, name the measure and the selected filters before discussing the result.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Data source: Customer_Churn_Sales_Data_500(2).xlsx, Sheet1. Report structure: chr(1).pbix and churnnnnn(1).pbix. Slide charts use the Excel data and are not screenshots from Power BI. Reference guidance: https://learn.microsoft.com/en-us/power-bi/transform-model/desktop-measures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Explain age groups in your own words. For a chart, name the measure and the selected filters before discussing the result.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Data source: Customer_Churn_Sales_Data_500(2).xlsx, Sheet1. Report structure: chr(1).pbix and churnnnnn(1).pbix. Slide charts use the Excel data and are not screenshots from Power BI. Reference guidance: https://learn.microsoft.com/en-us/power-bi/transform-model/desktop-measures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Explain churn by age in your own words. For a chart, name the measure and the selected filters before discussing the result.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Data source: Customer_Churn_Sales_Data_500(2).xlsx, Sheet1. Report structure: chr(1).pbix and churnnnnn(1).pbix. Slide charts use the Excel data and are not screenshots from Power BI. Reference guidance: https://learn.microsoft.com/en-us/power-bi/transform-model/desktop-measures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Explain satisfaction and churn in your own words. For a chart, name the measure and the selected filters before discussing the result.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Data source: Customer_Churn_Sales_Data_500(2).xlsx, Sheet1. Report structure: chr(1).pbix and churnnnnn(1).pbix. Slide charts use the Excel data and are not screenshots from Power BI. Reference guidance: https://learn.microsoft.com/en-us/power-bi/transform-model/desktop-measures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Explain support calls and churn in your own words. For a chart, name the measure and the selected filters before discussing the result.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Data source: Customer_Churn_Sales_Data_500(2).xlsx, Sheet1. Report structure: chr(1).pbix and churnnnnn(1).pbix. Slide charts use the Excel data and are not screenshots from Power BI. Reference guidance: https://learn.microsoft.com/en-us/power-bi/transform-model/desktop-measures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Explain using slicers in your own words. For a chart, name the measure and the selected filters before discussing the result.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Data source: Customer_Churn_Sales_Data_500(2).xlsx, Sheet1. Report structure: chr(1).pbix and churnnnnn(1).pbix. Slide charts use the Excel data and are not screenshots from Power BI. Reference guidance: https://learn.microsoft.com/en-us/power-bi/transform-model/desktop-measures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Explain report layout in your own words. For a chart, name the measure and the selected filters before discussing the result.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Data source: Customer_Churn_Sales_Data_500(2).xlsx, Sheet1. Report structure: chr(1).pbix and churnnnnn(1).pbix. Slide charts use the Excel data and are not screenshots from Power BI. Reference guidance: https://learn.microsoft.com/en-us/power-bi/transform-model/desktop-measures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Explain customer churn overview in your own words. For a chart, name the measure and the selected filters before discussing the result.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Data source: Customer_Churn_Sales_Data_500(2).xlsx, Sheet1. Report structure: chr(1).pbix and churnnnnn(1).pbix. Slide charts use the Excel data and are not screenshots from Power BI. Reference guidance: https://learn.microsoft.com/en-us/power-bi/transform-model/desktop-measures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Explain city drillthrough in your own words. For a chart, name the measure and the selected filters before discussing the result.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Data source: Customer_Churn_Sales_Data_500(2).xlsx, Sheet1. Report structure: chr(1).pbix and churnnnnn(1).pbix. Slide charts use the Excel data and are not screenshots from Power BI. Reference guidance: https://learn.microsoft.com/en-us/power-bi/transform-model/desktop-measures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Explain checking the totals in your own words. For a chart, name the measure and the selected filters before discussing the result.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Data source: Customer_Churn_Sales_Data_500(2).xlsx, Sheet1. Report structure: chr(1).pbix and churnnnnn(1).pbix. Slide charts use the Excel data and are not screenshots from Power BI. Reference guidance: https://learn.microsoft.com/en-us/power-bi/transform-model/desktop-measures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Explain presenting the report in your own words. For a chart, name the measure and the selected filters before discussing the result.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Data source: Customer_Churn_Sales_Data_500(2).xlsx, Sheet1. Report structure: chr(1).pbix and churnnnnn(1).pbix. Slide charts use the Excel data and are not screenshots from Power BI. Reference guidance: https://learn.microsoft.com/en-us/power-bi/transform-model/desktop-measures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Explain what the data shows in your own words. For a chart, name the measure and the selected filters before discussing the result.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Data source: Customer_Churn_Sales_Data_500(2).xlsx, Sheet1. Report structure: chr(1).pbix and churnnnnn(1).pbix. Slide charts use the Excel data and are not screenshots from Power BI. Reference guidance: https://learn.microsoft.com/en-us/power-bi/transform-model/desktop-measures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Explain data source in your own words. For a chart, name the measure and the selected filters before discussing the result.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Data source: Customer_Churn_Sales_Data_500(2).xlsx, Sheet1. Report structure: chr(1).pbix and churnnnnn(1).pbix. Slide charts use the Excel data and are not screenshots from Power BI. Reference guidance: https://learn.microsoft.com/en-us/power-bi/transform-model/desktop-measures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03eaf3a9ef745f0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6b4b81394794043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fe0222d5a914666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68c0c380e8c442a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6e66e8580fd4afe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cdae626a98d45c3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DF30982E-24E7-4BBF-8489-A96CD85165B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BE184DE5-DF7B-4125-B8A6-BCE20D97010B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932AA697-457B-47D3-BDD5-8363B7C2F0A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A006508A-6F3C-4560-932C-6B01C28A1D9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58FE4D20-A199-49E5-BB57-88F20D46A5E9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0C1CEC67-192B-45AA-A51C-5216B598F48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23B1B946-C3FA-46AE-8FB8-3504E99080B3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83F00C81-A297-4C30-B6DB-A1458F54557A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9CCAAD7E-7B36-4AA0-A87F-14A08B5CB27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DD18A952-11B0-4C9A-B7E6-734E887B7CC5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4ce2f325334a422c" /><Relationship Type="http://schemas.openxmlformats.org/officeDocument/2006/relationships/slideLayout" Target="/ppt/slideLayouts/slideLayout1.xml" Id="Rc9a5cebbf5164236" /><Relationship Type="http://schemas.openxmlformats.org/officeDocument/2006/relationships/slideLayout" Target="/ppt/slideLayouts/slideLayout2.xml" Id="R07989359f42f4e17" /><Relationship Type="http://schemas.openxmlformats.org/officeDocument/2006/relationships/slideLayout" Target="/ppt/slideLayouts/slideLayout3.xml" Id="Rf10b4254a22a45e9" /><Relationship Type="http://schemas.openxmlformats.org/officeDocument/2006/relationships/slideLayout" Target="/ppt/slideLayouts/slideLayout4.xml" Id="R6f527c7b9e304af3" /><Relationship Type="http://schemas.openxmlformats.org/officeDocument/2006/relationships/slideLayout" Target="/ppt/slideLayouts/slideLayout5.xml" Id="Re2ddf357f4d14c85" /><Relationship Type="http://schemas.openxmlformats.org/officeDocument/2006/relationships/slideLayout" Target="/ppt/slideLayouts/slideLayout6.xml" Id="Ra113a36811f946bc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c9a5cebbf5164236"/>
    <p:sldLayoutId xmlns:r="http://schemas.openxmlformats.org/officeDocument/2006/relationships" id="2147483650" r:id="R07989359f42f4e17"/>
    <p:sldLayoutId xmlns:r="http://schemas.openxmlformats.org/officeDocument/2006/relationships" id="2147483651" r:id="Rf10b4254a22a45e9"/>
    <p:sldLayoutId xmlns:r="http://schemas.openxmlformats.org/officeDocument/2006/relationships" id="2147483652" r:id="R6f527c7b9e304af3"/>
    <p:sldLayoutId xmlns:r="http://schemas.openxmlformats.org/officeDocument/2006/relationships" id="2147483653" r:id="Re2ddf357f4d14c85"/>
    <p:sldLayoutId xmlns:r="http://schemas.openxmlformats.org/officeDocument/2006/relationships" id="2147483654" r:id="Ra113a36811f946bc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79d8864b6aa46dd" /><Relationship Type="http://schemas.openxmlformats.org/officeDocument/2006/relationships/notesSlide" Target="/ppt/notesSlides/notesSlide1.xml" Id="R300a0e8f17eb4cc5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197b8f5e0bd4a82" /><Relationship Type="http://schemas.openxmlformats.org/officeDocument/2006/relationships/notesSlide" Target="/ppt/notesSlides/notesSlide2.xml" Id="Rcd4ca33f308d4c63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c5723817a634e4a" /><Relationship Type="http://schemas.openxmlformats.org/officeDocument/2006/relationships/notesSlide" Target="/ppt/notesSlides/notesSlide3.xml" Id="R91b995ede9474aaa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f86bfcc004c4e15" /><Relationship Type="http://schemas.openxmlformats.org/officeDocument/2006/relationships/notesSlide" Target="/ppt/notesSlides/notesSlide4.xml" Id="R2c9401eacaec42c3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2f34459d49c483d" /><Relationship Type="http://schemas.openxmlformats.org/officeDocument/2006/relationships/notesSlide" Target="/ppt/notesSlides/notesSlide5.xml" Id="Ree521aea11234568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f82192623a24910" /><Relationship Type="http://schemas.openxmlformats.org/officeDocument/2006/relationships/notesSlide" Target="/ppt/notesSlides/notesSlide6.xml" Id="Rb604eb13caad42ba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9e08d5adc5f4709" /><Relationship Type="http://schemas.openxmlformats.org/officeDocument/2006/relationships/notesSlide" Target="/ppt/notesSlides/notesSlide7.xml" Id="R828d3a9540594c64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bef517ceee846cf" /><Relationship Type="http://schemas.openxmlformats.org/officeDocument/2006/relationships/notesSlide" Target="/ppt/notesSlides/notesSlide8.xml" Id="R876f9157f2eb4605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3dde80e2d024811" /><Relationship Type="http://schemas.openxmlformats.org/officeDocument/2006/relationships/notesSlide" Target="/ppt/notesSlides/notesSlide9.xml" Id="Rac0887ab5c024156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563f25358c04e51" /><Relationship Type="http://schemas.openxmlformats.org/officeDocument/2006/relationships/notesSlide" Target="/ppt/notesSlides/notesSlide10.xml" Id="Rb133f20f4d2f4fb9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02a20309fd74eb1" /><Relationship Type="http://schemas.openxmlformats.org/officeDocument/2006/relationships/notesSlide" Target="/ppt/notesSlides/notesSlide11.xml" Id="R68484008c9664539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e5c32d5ede4402f" /><Relationship Type="http://schemas.openxmlformats.org/officeDocument/2006/relationships/chart" Target="/ppt/slides/charts/chart1.xml" Id="R302b69e4fc414e58" /><Relationship Type="http://schemas.openxmlformats.org/officeDocument/2006/relationships/notesSlide" Target="/ppt/notesSlides/notesSlide12.xml" Id="R30a3646a16c146e7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87f079046d8495c" /><Relationship Type="http://schemas.openxmlformats.org/officeDocument/2006/relationships/chart" Target="/ppt/slides/charts/chart2.xml" Id="Rfc9dc45e63914c5e" /><Relationship Type="http://schemas.openxmlformats.org/officeDocument/2006/relationships/notesSlide" Target="/ppt/notesSlides/notesSlide13.xml" Id="Rdd24a5ea72f14e3a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b073242d60e448e" /><Relationship Type="http://schemas.openxmlformats.org/officeDocument/2006/relationships/chart" Target="/ppt/slides/charts/chart3.xml" Id="R188984bea4f84ff8" /><Relationship Type="http://schemas.openxmlformats.org/officeDocument/2006/relationships/notesSlide" Target="/ppt/notesSlides/notesSlide14.xml" Id="R0610088975b3433c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63bc0f3ca714914" /><Relationship Type="http://schemas.openxmlformats.org/officeDocument/2006/relationships/chart" Target="/ppt/slides/charts/chart4.xml" Id="R137e29ee8bc546bf" /><Relationship Type="http://schemas.openxmlformats.org/officeDocument/2006/relationships/notesSlide" Target="/ppt/notesSlides/notesSlide15.xml" Id="Rff33e9b13aa64dbb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d3ce4135f634b14" /><Relationship Type="http://schemas.openxmlformats.org/officeDocument/2006/relationships/chart" Target="/ppt/slides/charts/chart5.xml" Id="Rd8f443cda0d04a4e" /><Relationship Type="http://schemas.openxmlformats.org/officeDocument/2006/relationships/notesSlide" Target="/ppt/notesSlides/notesSlide16.xml" Id="R73eace924ae645d9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2d64d6effce4b83" /><Relationship Type="http://schemas.openxmlformats.org/officeDocument/2006/relationships/notesSlide" Target="/ppt/notesSlides/notesSlide17.xml" Id="R0094fc4af1c4491d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2ead452e8b64b64" /><Relationship Type="http://schemas.openxmlformats.org/officeDocument/2006/relationships/chart" Target="/ppt/slides/charts/chart6.xml" Id="Rd9499b018e804c68" /><Relationship Type="http://schemas.openxmlformats.org/officeDocument/2006/relationships/notesSlide" Target="/ppt/notesSlides/notesSlide18.xml" Id="R28a7e7a64a97400e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734e0a823c74b8f" /><Relationship Type="http://schemas.openxmlformats.org/officeDocument/2006/relationships/chart" Target="/ppt/slides/charts/chart7.xml" Id="R1e4f66fc2ff14e24" /><Relationship Type="http://schemas.openxmlformats.org/officeDocument/2006/relationships/notesSlide" Target="/ppt/notesSlides/notesSlide19.xml" Id="R26cc89c5cc1449c8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5b03febf7344c07" /><Relationship Type="http://schemas.openxmlformats.org/officeDocument/2006/relationships/chart" Target="/ppt/slides/charts/chart8.xml" Id="R7ab1a647efeb4341" /><Relationship Type="http://schemas.openxmlformats.org/officeDocument/2006/relationships/notesSlide" Target="/ppt/notesSlides/notesSlide20.xml" Id="Ra94cb4e69f904000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83c4519668840d9" /><Relationship Type="http://schemas.openxmlformats.org/officeDocument/2006/relationships/notesSlide" Target="/ppt/notesSlides/notesSlide21.xml" Id="Rb0afb8e1f3a64665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74d79e54f2f4b58" /><Relationship Type="http://schemas.openxmlformats.org/officeDocument/2006/relationships/notesSlide" Target="/ppt/notesSlides/notesSlide22.xml" Id="R3139cb70374d4a41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88ff284d8504d98" /><Relationship Type="http://schemas.openxmlformats.org/officeDocument/2006/relationships/chart" Target="/ppt/slides/charts/chart9.xml" Id="R95b33727966f4f10" /><Relationship Type="http://schemas.openxmlformats.org/officeDocument/2006/relationships/chart" Target="/ppt/slides/charts/chart10.xml" Id="R37d0643814e04857" /><Relationship Type="http://schemas.openxmlformats.org/officeDocument/2006/relationships/notesSlide" Target="/ppt/notesSlides/notesSlide23.xml" Id="R46a9962e79fb46d7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f9c0f699cc1453f" /><Relationship Type="http://schemas.openxmlformats.org/officeDocument/2006/relationships/notesSlide" Target="/ppt/notesSlides/notesSlide24.xml" Id="R19f29ef7ad6040cb" /></Relationships>
</file>

<file path=ppt/slides/_rels/slide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7716729b58f4320" /><Relationship Type="http://schemas.openxmlformats.org/officeDocument/2006/relationships/notesSlide" Target="/ppt/notesSlides/notesSlide25.xml" Id="Rd96508f99cc84526" /></Relationships>
</file>

<file path=ppt/slides/_rels/slide2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548e236329e46e7" /><Relationship Type="http://schemas.openxmlformats.org/officeDocument/2006/relationships/notesSlide" Target="/ppt/notesSlides/notesSlide26.xml" Id="R997f6f34ae714637" /></Relationships>
</file>

<file path=ppt/slides/_rels/slide2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cff4f147be14e85" /><Relationship Type="http://schemas.openxmlformats.org/officeDocument/2006/relationships/notesSlide" Target="/ppt/notesSlides/notesSlide27.xml" Id="R116f1abe0eae45ec" /></Relationships>
</file>

<file path=ppt/slides/_rels/slide2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2a9ccf7e7764009" /><Relationship Type="http://schemas.openxmlformats.org/officeDocument/2006/relationships/notesSlide" Target="/ppt/notesSlides/notesSlide28.xml" Id="Rd9a95e7df8b6417d" /></Relationships>
</file>

<file path=ppt/slides/charts/_rels/chart1.xml.rels><Relationships xmlns="http://schemas.openxmlformats.org/package/2006/relationships"><Relationship Id="rIdChartSnapshot1" Type="http://schemas.openxmlformats.org/officeDocument/2006/relationships/package" Target="../../embeddings/chart-data-snapshot-001.xlsx"/></Relationships>
</file>

<file path=ppt/slides/charts/_rels/chart2.xml.rels><Relationships xmlns="http://schemas.openxmlformats.org/package/2006/relationships"><Relationship Id="rIdChartSnapshot1" Type="http://schemas.openxmlformats.org/officeDocument/2006/relationships/package" Target="../../embeddings/chart-data-snapshot-002.xlsx"/></Relationships>
</file>

<file path=ppt/slides/charts/_rels/chart3.xml.rels><Relationships xmlns="http://schemas.openxmlformats.org/package/2006/relationships"><Relationship Id="rIdChartSnapshot1" Type="http://schemas.openxmlformats.org/officeDocument/2006/relationships/package" Target="../../embeddings/chart-data-snapshot-003.xlsx"/></Relationships>
</file>

<file path=ppt/slides/charts/_rels/chart4.xml.rels><Relationships xmlns="http://schemas.openxmlformats.org/package/2006/relationships"><Relationship Id="rIdChartSnapshot1" Type="http://schemas.openxmlformats.org/officeDocument/2006/relationships/package" Target="../../embeddings/chart-data-snapshot-004.xlsx"/></Relationships>
</file>

<file path=ppt/slides/charts/_rels/chart5.xml.rels><Relationships xmlns="http://schemas.openxmlformats.org/package/2006/relationships"><Relationship Id="rIdChartSnapshot1" Type="http://schemas.openxmlformats.org/officeDocument/2006/relationships/package" Target="../../embeddings/chart-data-snapshot-005.xlsx"/></Relationships>
</file>

<file path=ppt/slides/charts/_rels/chart6.xml.rels><Relationships xmlns="http://schemas.openxmlformats.org/package/2006/relationships"><Relationship Id="rIdChartSnapshot1" Type="http://schemas.openxmlformats.org/officeDocument/2006/relationships/package" Target="../../embeddings/chart-data-snapshot-006.xlsx"/></Relationships>
</file>

<file path=ppt/slides/charts/_rels/chart7.xml.rels><Relationships xmlns="http://schemas.openxmlformats.org/package/2006/relationships"><Relationship Id="rIdChartSnapshot1" Type="http://schemas.openxmlformats.org/officeDocument/2006/relationships/package" Target="../../embeddings/chart-data-snapshot-007.xlsx"/></Relationships>
</file>

<file path=ppt/slides/charts/_rels/chart8.xml.rels><Relationships xmlns="http://schemas.openxmlformats.org/package/2006/relationships"><Relationship Id="rIdChartSnapshot1" Type="http://schemas.openxmlformats.org/officeDocument/2006/relationships/package" Target="../../embeddings/chart-data-snapshot-008.xlsx"/></Relationships>
</file>

<file path=ppt/slides/charts/_rels/chart9.xml.rels><Relationships xmlns="http://schemas.openxmlformats.org/package/2006/relationships"><Relationship Id="rIdChartSnapshot1" Type="http://schemas.openxmlformats.org/officeDocument/2006/relationships/package" Target="../../embeddings/chart-data-snapshot-009.xlsx"/></Relationships>
</file>

<file path=ppt/slides/charts/_rels/chart10.xml.rels><Relationships xmlns="http://schemas.openxmlformats.org/package/2006/relationships"><Relationship Id="rIdChartSnapshot1" Type="http://schemas.openxmlformats.org/officeDocument/2006/relationships/package" Target="../../embeddings/chart-data-snapshot-010.xlsx"/></Relationships>
</file>

<file path=ppt/slides/charts/chart1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bar"/>
        <c:grouping val="clustered"/>
        <c:varyColors val="0"/>
        <c:ser>
          <c:idx val="0"/>
          <c:order val="0"/>
          <c:tx>
            <c:v>Sales</c:v>
          </c:tx>
          <c:spPr>
            <a:solidFill xmlns:a="http://schemas.openxmlformats.org/drawingml/2006/main">
              <a:srgbClr val="4472C4"/>
            </a:solidFill>
          </c:spPr>
          <c:cat>
            <c:strRef>
              <c:f>'Chart Data'!$A$2:$A$6</c:f>
              <c:strCache>
                <c:ptCount val="5"/>
                <c:pt idx="0">
                  <c:v>Mixer</c:v>
                </c:pt>
                <c:pt idx="1">
                  <c:v>Face Wash</c:v>
                </c:pt>
                <c:pt idx="2">
                  <c:v>Cookware Set</c:v>
                </c:pt>
                <c:pt idx="3">
                  <c:v>T-Shirt</c:v>
                </c:pt>
                <c:pt idx="4">
                  <c:v>Snacks</c:v>
                </c:pt>
              </c:strCache>
            </c:strRef>
          </c:cat>
          <c:val>
            <c:numRef>
              <c:f>'Chart Data'!$B$2:$B$6</c:f>
              <c:numCache>
                <c:formatCode>#,##0</c:formatCode>
                <c:ptCount val="5"/>
                <c:pt idx="0">
                  <c:v>271878</c:v>
                </c:pt>
                <c:pt idx="1">
                  <c:v>272366</c:v>
                </c:pt>
                <c:pt idx="2">
                  <c:v>299671</c:v>
                </c:pt>
                <c:pt idx="3">
                  <c:v>303676</c:v>
                </c:pt>
                <c:pt idx="4">
                  <c:v>304567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275">
                  <a:latin typeface="Arial"/>
                  <a:ea typeface="Arial"/>
                  <a:cs typeface="Arial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barChart>
      <c:catAx>
        <c:axId val="48650112"/>
        <c:scaling>
          <c:orientation val="minMax"/>
        </c:scaling>
        <c:delete val="1"/>
        <c:axPos val="l"/>
        <c:numFmt formatCode="#,##0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</a:p>
        </c:txPr>
        <c:crossAx val="48672768"/>
      </c:catAx>
      <c:valAx>
        <c:axId val="48672768"/>
        <c:scaling>
          <c:orientation val="minMax"/>
          <c:min val="0"/>
        </c:scaling>
        <c:delete val="0"/>
        <c:axPos val="b"/>
        <c:numFmt formatCode="#,##0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</a:p>
        </c:txPr>
        <c:crossAx val="48650112"/>
        <c:crossBetween val="between"/>
      </c:valAx>
      <c:spPr>
        <a:solidFill xmlns:a="http://schemas.openxmlformats.org/drawingml/2006/main">
          <a:srgbClr val="FFFFFF"/>
        </a:solidFill>
      </c:spPr>
    </c:plotArea>
    <c:plotVisOnly val="1"/>
  </c:chart>
  <c:spPr>
    <a:solidFill xmlns:a="http://schemas.openxmlformats.org/drawingml/2006/main">
      <a:srgbClr val="FFFFFF"/>
    </a:solidFill>
  </c:spPr>
  <c:externalData r:id="rIdChartSnapshot1">
    <c:autoUpdate val="0"/>
  </c:externalData>
</c:chartSpace>
</file>

<file path=ppt/slides/charts/chart2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bar"/>
        <c:grouping val="clustered"/>
        <c:varyColors val="0"/>
        <c:ser>
          <c:idx val="0"/>
          <c:order val="0"/>
          <c:tx>
            <c:v>Orders</c:v>
          </c:tx>
          <c:spPr>
            <a:solidFill xmlns:a="http://schemas.openxmlformats.org/drawingml/2006/main">
              <a:srgbClr val="4472C4"/>
            </a:solidFill>
          </c:spPr>
          <c:cat>
            <c:strRef>
              <c:f>'Chart Data'!$A$2:$A$6</c:f>
              <c:strCache>
                <c:ptCount val="5"/>
                <c:pt idx="0">
                  <c:v>Laptop</c:v>
                </c:pt>
                <c:pt idx="1">
                  <c:v>Household Items</c:v>
                </c:pt>
                <c:pt idx="2">
                  <c:v>Face Wash</c:v>
                </c:pt>
                <c:pt idx="3">
                  <c:v>Snacks</c:v>
                </c:pt>
                <c:pt idx="4">
                  <c:v>Skin Care Kit</c:v>
                </c:pt>
              </c:strCache>
            </c:strRef>
          </c:cat>
          <c:val>
            <c:numRef>
              <c:f>'Chart Data'!$B$2:$B$6</c:f>
              <c:numCache>
                <c:formatCode>#,##0</c:formatCode>
                <c:ptCount val="5"/>
                <c:pt idx="0">
                  <c:v>296</c:v>
                </c:pt>
                <c:pt idx="1">
                  <c:v>306</c:v>
                </c:pt>
                <c:pt idx="2">
                  <c:v>343</c:v>
                </c:pt>
                <c:pt idx="3">
                  <c:v>348</c:v>
                </c:pt>
                <c:pt idx="4">
                  <c:v>355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275">
                  <a:latin typeface="Arial"/>
                  <a:ea typeface="Arial"/>
                  <a:cs typeface="Arial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barChart>
      <c:catAx>
        <c:axId val="48650112"/>
        <c:scaling>
          <c:orientation val="minMax"/>
        </c:scaling>
        <c:delete val="0"/>
        <c:axPos val="l"/>
        <c:numFmt formatCode="#,##0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</a:p>
        </c:txPr>
        <c:crossAx val="48672768"/>
      </c:catAx>
      <c:valAx>
        <c:axId val="48672768"/>
        <c:scaling>
          <c:orientation val="minMax"/>
          <c:min val="0"/>
        </c:scaling>
        <c:delete val="0"/>
        <c:axPos val="b"/>
        <c:numFmt formatCode="#,##0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</a:p>
        </c:txPr>
        <c:crossAx val="48650112"/>
        <c:crossBetween val="between"/>
      </c:valAx>
      <c:spPr>
        <a:solidFill xmlns:a="http://schemas.openxmlformats.org/drawingml/2006/main">
          <a:srgbClr val="FFFFFF"/>
        </a:solidFill>
      </c:spPr>
    </c:plotArea>
    <c:plotVisOnly val="1"/>
  </c:chart>
  <c:spPr>
    <a:solidFill xmlns:a="http://schemas.openxmlformats.org/drawingml/2006/main">
      <a:srgbClr val="FFFFFF"/>
    </a:solidFill>
  </c:spPr>
  <c:externalData r:id="rIdChartSnapshot1">
    <c:autoUpdate val="0"/>
  </c:externalData>
</c:chartSpace>
</file>

<file path=ppt/slides/charts/chart3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bar"/>
        <c:grouping val="clustered"/>
        <c:varyColors val="0"/>
        <c:ser>
          <c:idx val="0"/>
          <c:order val="0"/>
          <c:tx>
            <c:v>Sales</c:v>
          </c:tx>
          <c:spPr>
            <a:solidFill xmlns:a="http://schemas.openxmlformats.org/drawingml/2006/main">
              <a:srgbClr val="4472C4"/>
            </a:solidFill>
          </c:spPr>
          <c:cat>
            <c:strRef>
              <c:f>'Chart Data'!$A$2:$A$11</c:f>
              <c:strCache>
                <c:ptCount val="10"/>
                <c:pt idx="0">
                  <c:v>Lucknow</c:v>
                </c:pt>
                <c:pt idx="1">
                  <c:v>Bengaluru</c:v>
                </c:pt>
                <c:pt idx="2">
                  <c:v>Jaipur</c:v>
                </c:pt>
                <c:pt idx="3">
                  <c:v>Hyderabad</c:v>
                </c:pt>
                <c:pt idx="4">
                  <c:v>Mumbai</c:v>
                </c:pt>
                <c:pt idx="5">
                  <c:v>Delhi</c:v>
                </c:pt>
                <c:pt idx="6">
                  <c:v>Kolkata</c:v>
                </c:pt>
                <c:pt idx="7">
                  <c:v>Pune</c:v>
                </c:pt>
                <c:pt idx="8">
                  <c:v>Noida</c:v>
                </c:pt>
                <c:pt idx="9">
                  <c:v>Kanpur</c:v>
                </c:pt>
              </c:strCache>
            </c:strRef>
          </c:cat>
          <c:val>
            <c:numRef>
              <c:f>'Chart Data'!$B$2:$B$11</c:f>
              <c:numCache>
                <c:formatCode>#,##0</c:formatCode>
                <c:ptCount val="10"/>
                <c:pt idx="0">
                  <c:v>202661</c:v>
                </c:pt>
                <c:pt idx="1">
                  <c:v>268052</c:v>
                </c:pt>
                <c:pt idx="2">
                  <c:v>375951</c:v>
                </c:pt>
                <c:pt idx="3">
                  <c:v>473051</c:v>
                </c:pt>
                <c:pt idx="4">
                  <c:v>486957</c:v>
                </c:pt>
                <c:pt idx="5">
                  <c:v>501745</c:v>
                </c:pt>
                <c:pt idx="6">
                  <c:v>517436</c:v>
                </c:pt>
                <c:pt idx="7">
                  <c:v>539947</c:v>
                </c:pt>
                <c:pt idx="8">
                  <c:v>561850</c:v>
                </c:pt>
                <c:pt idx="9">
                  <c:v>565950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275">
                  <a:latin typeface="Arial"/>
                  <a:ea typeface="Arial"/>
                  <a:cs typeface="Arial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barChart>
      <c:catAx>
        <c:axId val="48650112"/>
        <c:scaling>
          <c:orientation val="minMax"/>
        </c:scaling>
        <c:delete val="1"/>
        <c:axPos val="l"/>
        <c:numFmt formatCode="#,##0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</a:p>
        </c:txPr>
        <c:crossAx val="48672768"/>
      </c:catAx>
      <c:valAx>
        <c:axId val="48672768"/>
        <c:scaling>
          <c:orientation val="minMax"/>
          <c:min val="0"/>
        </c:scaling>
        <c:delete val="0"/>
        <c:axPos val="b"/>
        <c:numFmt formatCode="#,##0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</a:p>
        </c:txPr>
        <c:crossAx val="48650112"/>
        <c:crossBetween val="between"/>
      </c:valAx>
      <c:spPr>
        <a:solidFill xmlns:a="http://schemas.openxmlformats.org/drawingml/2006/main">
          <a:srgbClr val="FFFFFF"/>
        </a:solidFill>
      </c:spPr>
    </c:plotArea>
    <c:plotVisOnly val="1"/>
  </c:chart>
  <c:spPr>
    <a:solidFill xmlns:a="http://schemas.openxmlformats.org/drawingml/2006/main">
      <a:srgbClr val="FFFFFF"/>
    </a:solidFill>
  </c:spPr>
  <c:externalData r:id="rIdChartSnapshot1">
    <c:autoUpdate val="0"/>
  </c:externalData>
</c:chartSpace>
</file>

<file path=ppt/slides/charts/chart4.xml><?xml version="1.0" encoding="utf-8"?>
<c:chartSpace xmlns:c="http://schemas.openxmlformats.org/drawingml/2006/chart" xmlns:r="http://schemas.openxmlformats.org/officeDocument/2006/relationships">
  <c:lang val="en-US"/>
  <c:chart>
    <c:plotArea>
      <c:doughnutChart>
        <c:ser>
          <c:idx val="0"/>
          <c:order val="0"/>
          <c:tx>
            <c:v>Churned customers</c:v>
          </c:tx>
          <c:spPr>
            <a:solidFill xmlns:a="http://schemas.openxmlformats.org/drawingml/2006/main">
              <a:srgbClr val="4472C4"/>
            </a:solidFill>
          </c:spPr>
          <c:dPt>
            <c:idx val="0"/>
            <c:spPr>
              <a:solidFill xmlns:a="http://schemas.openxmlformats.org/drawingml/2006/main">
                <a:srgbClr val="4472C4"/>
              </a:solidFill>
            </c:spPr>
          </c:dPt>
          <c:dPt>
            <c:idx val="1"/>
            <c:spPr>
              <a:solidFill xmlns:a="http://schemas.openxmlformats.org/drawingml/2006/main">
                <a:srgbClr val="ED7D31"/>
              </a:solidFill>
            </c:spPr>
          </c:dPt>
          <c:cat>
            <c:strRef>
              <c:f>'Chart Data'!$A$2:$A$3</c:f>
              <c:strCache>
                <c:ptCount val="2"/>
                <c:pt idx="0">
                  <c:v>New</c:v>
                </c:pt>
                <c:pt idx="1">
                  <c:v>Returning</c:v>
                </c:pt>
              </c:strCache>
            </c:strRef>
          </c:cat>
          <c:val>
            <c:numRef>
              <c:f>'Chart Data'!$B$2:$B$3</c:f>
              <c:numCache>
                <c:formatCode>#,##0</c:formatCode>
                <c:ptCount val="2"/>
                <c:pt idx="0">
                  <c:v>66</c:v>
                </c:pt>
                <c:pt idx="1">
                  <c:v>56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275">
                  <a:latin typeface="Arial"/>
                  <a:ea typeface="Arial"/>
                  <a:cs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holeSize val="62"/>
      </c:doughnutChart>
      <c:spPr>
        <a:solidFill xmlns:a="http://schemas.openxmlformats.org/drawingml/2006/main">
          <a:srgbClr val="FFFFFF"/>
        </a:solidFill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350">
              <a:latin typeface="Arial"/>
              <a:ea typeface="Arial"/>
              <a:cs typeface="Arial"/>
            </a:defRPr>
          </a:pPr>
        </a:p>
      </c:txPr>
    </c:legend>
    <c:plotVisOnly val="1"/>
  </c:chart>
  <c:spPr>
    <a:solidFill xmlns:a="http://schemas.openxmlformats.org/drawingml/2006/main">
      <a:srgbClr val="FFFFFF"/>
    </a:solidFill>
  </c:spPr>
  <c:externalData r:id="rIdChartSnapshot1">
    <c:autoUpdate val="0"/>
  </c:externalData>
</c:chartSpace>
</file>

<file path=ppt/slides/charts/chart5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Churn = Yes</c:v>
          </c:tx>
          <c:spPr>
            <a:solidFill xmlns:a="http://schemas.openxmlformats.org/drawingml/2006/main">
              <a:srgbClr val="ED7D31"/>
            </a:solidFill>
          </c:spPr>
          <c:cat>
            <c:strRef>
              <c:f>'Chart Data'!$A$2:$A$3</c:f>
              <c:strCache>
                <c:ptCount val="2"/>
                <c:pt idx="0">
                  <c:v>Female</c:v>
                </c:pt>
                <c:pt idx="1">
                  <c:v>Male</c:v>
                </c:pt>
              </c:strCache>
            </c:strRef>
          </c:cat>
          <c:val>
            <c:numRef>
              <c:f>'Chart Data'!$B$2:$B$3</c:f>
              <c:numCache>
                <c:formatCode>#,##0</c:formatCode>
                <c:ptCount val="2"/>
                <c:pt idx="0">
                  <c:v>61</c:v>
                </c:pt>
                <c:pt idx="1">
                  <c:v>61</c:v>
                </c:pt>
              </c:numCache>
            </c:numRef>
          </c:val>
        </c:ser>
        <c:ser>
          <c:idx val="1"/>
          <c:order val="1"/>
          <c:tx>
            <c:v>Churn = No</c:v>
          </c:tx>
          <c:spPr>
            <a:solidFill xmlns:a="http://schemas.openxmlformats.org/drawingml/2006/main">
              <a:srgbClr val="4472C4"/>
            </a:solidFill>
          </c:spPr>
          <c:cat>
            <c:strRef>
              <c:f>'Chart Data'!$C$2:$C$3</c:f>
              <c:strCache>
                <c:ptCount val="2"/>
                <c:pt idx="0">
                  <c:v>Female</c:v>
                </c:pt>
                <c:pt idx="1">
                  <c:v>Male</c:v>
                </c:pt>
              </c:strCache>
            </c:strRef>
          </c:cat>
          <c:val>
            <c:numRef>
              <c:f>'Chart Data'!$D$2:$D$3</c:f>
              <c:numCache>
                <c:formatCode>#,##0</c:formatCode>
                <c:ptCount val="2"/>
                <c:pt idx="0">
                  <c:v>212</c:v>
                </c:pt>
                <c:pt idx="1">
                  <c:v>166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275">
                  <a:latin typeface="Arial"/>
                  <a:ea typeface="Arial"/>
                  <a:cs typeface="Arial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#,##0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</a:p>
        </c:txPr>
        <c:crossAx val="48672768"/>
      </c:catAx>
      <c:valAx>
        <c:axId val="48672768"/>
        <c:scaling>
          <c:orientation val="minMax"/>
          <c:min val="0"/>
        </c:scaling>
        <c:delete val="0"/>
        <c:axPos val="l"/>
        <c:numFmt formatCode="#,##0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</a:p>
        </c:txPr>
        <c:crossAx val="48650112"/>
        <c:crossBetween val="between"/>
      </c:valAx>
      <c:spPr>
        <a:solidFill xmlns:a="http://schemas.openxmlformats.org/drawingml/2006/main">
          <a:srgbClr val="FFFFFF"/>
        </a:solidFill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350">
              <a:latin typeface="Arial"/>
              <a:ea typeface="Arial"/>
              <a:cs typeface="Arial"/>
            </a:defRPr>
          </a:pPr>
        </a:p>
      </c:txPr>
    </c:legend>
    <c:plotVisOnly val="1"/>
  </c:chart>
  <c:spPr>
    <a:solidFill xmlns:a="http://schemas.openxmlformats.org/drawingml/2006/main">
      <a:srgbClr val="FFFFFF"/>
    </a:solidFill>
  </c:spPr>
  <c:externalData r:id="rIdChartSnapshot1">
    <c:autoUpdate val="0"/>
  </c:externalData>
</c:chartSpace>
</file>

<file path=ppt/slides/charts/chart6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Churn = Yes</c:v>
          </c:tx>
          <c:spPr>
            <a:solidFill xmlns:a="http://schemas.openxmlformats.org/drawingml/2006/main">
              <a:srgbClr val="ED7D31"/>
            </a:solidFill>
          </c:spPr>
          <c:cat>
            <c:strRef>
              <c:f>'Chart Data'!$A$2:$A$6</c:f>
              <c:strCache>
                <c:ptCount val="5"/>
                <c:pt idx="0">
                  <c:v>18–29</c:v>
                </c:pt>
                <c:pt idx="1">
                  <c:v>30–39</c:v>
                </c:pt>
                <c:pt idx="2">
                  <c:v>40–49</c:v>
                </c:pt>
                <c:pt idx="3">
                  <c:v>50–59</c:v>
                </c:pt>
                <c:pt idx="4">
                  <c:v>60+</c:v>
                </c:pt>
              </c:strCache>
            </c:strRef>
          </c:cat>
          <c:val>
            <c:numRef>
              <c:f>'Chart Data'!$B$2:$B$6</c:f>
              <c:numCache>
                <c:formatCode>#,##0</c:formatCode>
                <c:ptCount val="5"/>
                <c:pt idx="0">
                  <c:v>28</c:v>
                </c:pt>
                <c:pt idx="1">
                  <c:v>29</c:v>
                </c:pt>
                <c:pt idx="2">
                  <c:v>30</c:v>
                </c:pt>
                <c:pt idx="3">
                  <c:v>31</c:v>
                </c:pt>
                <c:pt idx="4">
                  <c:v>4</c:v>
                </c:pt>
              </c:numCache>
            </c:numRef>
          </c:val>
        </c:ser>
        <c:ser>
          <c:idx val="1"/>
          <c:order val="1"/>
          <c:tx>
            <c:v>Churn = No</c:v>
          </c:tx>
          <c:spPr>
            <a:solidFill xmlns:a="http://schemas.openxmlformats.org/drawingml/2006/main">
              <a:srgbClr val="4472C4"/>
            </a:solidFill>
          </c:spPr>
          <c:cat>
            <c:strRef>
              <c:f>'Chart Data'!$C$2:$C$6</c:f>
              <c:strCache>
                <c:ptCount val="5"/>
                <c:pt idx="0">
                  <c:v>18–29</c:v>
                </c:pt>
                <c:pt idx="1">
                  <c:v>30–39</c:v>
                </c:pt>
                <c:pt idx="2">
                  <c:v>40–49</c:v>
                </c:pt>
                <c:pt idx="3">
                  <c:v>50–59</c:v>
                </c:pt>
                <c:pt idx="4">
                  <c:v>60+</c:v>
                </c:pt>
              </c:strCache>
            </c:strRef>
          </c:cat>
          <c:val>
            <c:numRef>
              <c:f>'Chart Data'!$D$2:$D$6</c:f>
              <c:numCache>
                <c:formatCode>#,##0</c:formatCode>
                <c:ptCount val="5"/>
                <c:pt idx="0">
                  <c:v>115</c:v>
                </c:pt>
                <c:pt idx="1">
                  <c:v>78</c:v>
                </c:pt>
                <c:pt idx="2">
                  <c:v>84</c:v>
                </c:pt>
                <c:pt idx="3">
                  <c:v>91</c:v>
                </c:pt>
                <c:pt idx="4">
                  <c:v>10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275">
                  <a:latin typeface="Arial"/>
                  <a:ea typeface="Arial"/>
                  <a:cs typeface="Arial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#,##0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</a:p>
        </c:txPr>
        <c:crossAx val="48672768"/>
      </c:catAx>
      <c:valAx>
        <c:axId val="48672768"/>
        <c:scaling>
          <c:orientation val="minMax"/>
          <c:min val="0"/>
        </c:scaling>
        <c:delete val="0"/>
        <c:axPos val="l"/>
        <c:numFmt formatCode="#,##0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</a:p>
        </c:txPr>
        <c:crossAx val="48650112"/>
        <c:crossBetween val="between"/>
      </c:valAx>
      <c:spPr>
        <a:solidFill xmlns:a="http://schemas.openxmlformats.org/drawingml/2006/main">
          <a:srgbClr val="FFFFFF"/>
        </a:solidFill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350">
              <a:latin typeface="Arial"/>
              <a:ea typeface="Arial"/>
              <a:cs typeface="Arial"/>
            </a:defRPr>
          </a:pPr>
        </a:p>
      </c:txPr>
    </c:legend>
    <c:plotVisOnly val="1"/>
  </c:chart>
  <c:spPr>
    <a:solidFill xmlns:a="http://schemas.openxmlformats.org/drawingml/2006/main">
      <a:srgbClr val="FFFFFF"/>
    </a:solidFill>
  </c:spPr>
  <c:externalData r:id="rIdChartSnapshot1">
    <c:autoUpdate val="0"/>
  </c:externalData>
</c:chartSpace>
</file>

<file path=ppt/slides/charts/chart7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Churn = Yes</c:v>
          </c:tx>
          <c:spPr>
            <a:solidFill xmlns:a="http://schemas.openxmlformats.org/drawingml/2006/main">
              <a:srgbClr val="ED7D31"/>
            </a:solidFill>
          </c:spPr>
          <c:cat>
            <c:numRef>
              <c:f>'Chart Data'!$A$2:$A$6</c:f>
              <c:numCache>
                <c:formatCode>#,##0</c:formatCode>
                <c:ptCount val="5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</c:numCache>
            </c:numRef>
          </c:cat>
          <c:val>
            <c:numRef>
              <c:f>'Chart Data'!$B$2:$B$6</c:f>
              <c:numCache>
                <c:formatCode>#,##0</c:formatCode>
                <c:ptCount val="5"/>
                <c:pt idx="0">
                  <c:v>25</c:v>
                </c:pt>
                <c:pt idx="1">
                  <c:v>35</c:v>
                </c:pt>
                <c:pt idx="2">
                  <c:v>20</c:v>
                </c:pt>
                <c:pt idx="3">
                  <c:v>18</c:v>
                </c:pt>
                <c:pt idx="4">
                  <c:v>24</c:v>
                </c:pt>
              </c:numCache>
            </c:numRef>
          </c:val>
        </c:ser>
        <c:ser>
          <c:idx val="1"/>
          <c:order val="1"/>
          <c:tx>
            <c:v>Churn = No</c:v>
          </c:tx>
          <c:spPr>
            <a:solidFill xmlns:a="http://schemas.openxmlformats.org/drawingml/2006/main">
              <a:srgbClr val="4472C4"/>
            </a:solidFill>
          </c:spPr>
          <c:cat>
            <c:numRef>
              <c:f>'Chart Data'!$C$2:$C$6</c:f>
              <c:numCache>
                <c:formatCode>#,##0</c:formatCode>
                <c:ptCount val="5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</c:numCache>
            </c:numRef>
          </c:cat>
          <c:val>
            <c:numRef>
              <c:f>'Chart Data'!$D$2:$D$6</c:f>
              <c:numCache>
                <c:formatCode>#,##0</c:formatCode>
                <c:ptCount val="5"/>
                <c:pt idx="0">
                  <c:v>68</c:v>
                </c:pt>
                <c:pt idx="1">
                  <c:v>74</c:v>
                </c:pt>
                <c:pt idx="2">
                  <c:v>74</c:v>
                </c:pt>
                <c:pt idx="3">
                  <c:v>85</c:v>
                </c:pt>
                <c:pt idx="4">
                  <c:v>77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275">
                  <a:latin typeface="Arial"/>
                  <a:ea typeface="Arial"/>
                  <a:cs typeface="Arial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#,##0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</a:p>
        </c:txPr>
        <c:crossAx val="48672768"/>
      </c:catAx>
      <c:valAx>
        <c:axId val="48672768"/>
        <c:scaling>
          <c:orientation val="minMax"/>
          <c:min val="0"/>
        </c:scaling>
        <c:delete val="0"/>
        <c:axPos val="l"/>
        <c:numFmt formatCode="#,##0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</a:p>
        </c:txPr>
        <c:crossAx val="48650112"/>
        <c:crossBetween val="between"/>
      </c:valAx>
      <c:spPr>
        <a:solidFill xmlns:a="http://schemas.openxmlformats.org/drawingml/2006/main">
          <a:srgbClr val="FFFFFF"/>
        </a:solidFill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350">
              <a:latin typeface="Arial"/>
              <a:ea typeface="Arial"/>
              <a:cs typeface="Arial"/>
            </a:defRPr>
          </a:pPr>
        </a:p>
      </c:txPr>
    </c:legend>
    <c:plotVisOnly val="1"/>
  </c:chart>
  <c:spPr>
    <a:solidFill xmlns:a="http://schemas.openxmlformats.org/drawingml/2006/main">
      <a:srgbClr val="FFFFFF"/>
    </a:solidFill>
  </c:spPr>
  <c:externalData r:id="rIdChartSnapshot1">
    <c:autoUpdate val="0"/>
  </c:externalData>
</c:chartSpace>
</file>

<file path=ppt/slides/charts/chart8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Churn = Yes</c:v>
          </c:tx>
          <c:spPr>
            <a:solidFill xmlns:a="http://schemas.openxmlformats.org/drawingml/2006/main">
              <a:srgbClr val="ED7D31"/>
            </a:solidFill>
          </c:spPr>
          <c:cat>
            <c:numRef>
              <c:f>'Chart Data'!$A$2:$A$10</c:f>
              <c:numCache>
                <c:formatCode>#,##0</c:formatCode>
                <c:ptCount val="9"/>
                <c:pt idx="0">
                  <c:v>0</c:v>
                </c:pt>
                <c:pt idx="1">
                  <c:v>1</c:v>
                </c:pt>
                <c:pt idx="2">
                  <c:v>2</c:v>
                </c:pt>
                <c:pt idx="3">
                  <c:v>3</c:v>
                </c:pt>
                <c:pt idx="4">
                  <c:v>4</c:v>
                </c:pt>
                <c:pt idx="5">
                  <c:v>5</c:v>
                </c:pt>
                <c:pt idx="6">
                  <c:v>6</c:v>
                </c:pt>
                <c:pt idx="7">
                  <c:v>7</c:v>
                </c:pt>
                <c:pt idx="8">
                  <c:v>8</c:v>
                </c:pt>
              </c:numCache>
            </c:numRef>
          </c:cat>
          <c:val>
            <c:numRef>
              <c:f>'Chart Data'!$B$2:$B$10</c:f>
              <c:numCache>
                <c:formatCode>#,##0</c:formatCode>
                <c:ptCount val="9"/>
                <c:pt idx="0">
                  <c:v>12</c:v>
                </c:pt>
                <c:pt idx="1">
                  <c:v>10</c:v>
                </c:pt>
                <c:pt idx="2">
                  <c:v>19</c:v>
                </c:pt>
                <c:pt idx="3">
                  <c:v>13</c:v>
                </c:pt>
                <c:pt idx="4">
                  <c:v>8</c:v>
                </c:pt>
                <c:pt idx="5">
                  <c:v>12</c:v>
                </c:pt>
                <c:pt idx="6">
                  <c:v>15</c:v>
                </c:pt>
                <c:pt idx="7">
                  <c:v>17</c:v>
                </c:pt>
                <c:pt idx="8">
                  <c:v>16</c:v>
                </c:pt>
              </c:numCache>
            </c:numRef>
          </c:val>
        </c:ser>
        <c:ser>
          <c:idx val="1"/>
          <c:order val="1"/>
          <c:tx>
            <c:v>Churn = No</c:v>
          </c:tx>
          <c:spPr>
            <a:solidFill xmlns:a="http://schemas.openxmlformats.org/drawingml/2006/main">
              <a:srgbClr val="4472C4"/>
            </a:solidFill>
          </c:spPr>
          <c:cat>
            <c:numRef>
              <c:f>'Chart Data'!$C$2:$C$10</c:f>
              <c:numCache>
                <c:formatCode>#,##0</c:formatCode>
                <c:ptCount val="9"/>
                <c:pt idx="0">
                  <c:v>0</c:v>
                </c:pt>
                <c:pt idx="1">
                  <c:v>1</c:v>
                </c:pt>
                <c:pt idx="2">
                  <c:v>2</c:v>
                </c:pt>
                <c:pt idx="3">
                  <c:v>3</c:v>
                </c:pt>
                <c:pt idx="4">
                  <c:v>4</c:v>
                </c:pt>
                <c:pt idx="5">
                  <c:v>5</c:v>
                </c:pt>
                <c:pt idx="6">
                  <c:v>6</c:v>
                </c:pt>
                <c:pt idx="7">
                  <c:v>7</c:v>
                </c:pt>
                <c:pt idx="8">
                  <c:v>8</c:v>
                </c:pt>
              </c:numCache>
            </c:numRef>
          </c:cat>
          <c:val>
            <c:numRef>
              <c:f>'Chart Data'!$D$2:$D$10</c:f>
              <c:numCache>
                <c:formatCode>#,##0</c:formatCode>
                <c:ptCount val="9"/>
                <c:pt idx="0">
                  <c:v>44</c:v>
                </c:pt>
                <c:pt idx="1">
                  <c:v>48</c:v>
                </c:pt>
                <c:pt idx="2">
                  <c:v>47</c:v>
                </c:pt>
                <c:pt idx="3">
                  <c:v>39</c:v>
                </c:pt>
                <c:pt idx="4">
                  <c:v>44</c:v>
                </c:pt>
                <c:pt idx="5">
                  <c:v>41</c:v>
                </c:pt>
                <c:pt idx="6">
                  <c:v>45</c:v>
                </c:pt>
                <c:pt idx="7">
                  <c:v>36</c:v>
                </c:pt>
                <c:pt idx="8">
                  <c:v>34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275">
                  <a:latin typeface="Arial"/>
                  <a:ea typeface="Arial"/>
                  <a:cs typeface="Arial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#,##0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</a:p>
        </c:txPr>
        <c:crossAx val="48672768"/>
      </c:catAx>
      <c:valAx>
        <c:axId val="48672768"/>
        <c:scaling>
          <c:orientation val="minMax"/>
          <c:min val="0"/>
        </c:scaling>
        <c:delete val="0"/>
        <c:axPos val="l"/>
        <c:numFmt formatCode="#,##0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</a:p>
        </c:txPr>
        <c:crossAx val="48650112"/>
        <c:crossBetween val="between"/>
      </c:valAx>
      <c:spPr>
        <a:solidFill xmlns:a="http://schemas.openxmlformats.org/drawingml/2006/main">
          <a:srgbClr val="FFFFFF"/>
        </a:solidFill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350">
              <a:latin typeface="Arial"/>
              <a:ea typeface="Arial"/>
              <a:cs typeface="Arial"/>
            </a:defRPr>
          </a:pPr>
        </a:p>
      </c:txPr>
    </c:legend>
    <c:plotVisOnly val="1"/>
  </c:chart>
  <c:spPr>
    <a:solidFill xmlns:a="http://schemas.openxmlformats.org/drawingml/2006/main">
      <a:srgbClr val="FFFFFF"/>
    </a:solidFill>
  </c:spPr>
  <c:externalData r:id="rIdChartSnapshot1">
    <c:autoUpdate val="0"/>
  </c:externalData>
</c:chartSpace>
</file>

<file path=ppt/slides/charts/chart9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Churn = Yes</c:v>
          </c:tx>
          <c:spPr>
            <a:solidFill xmlns:a="http://schemas.openxmlformats.org/drawingml/2006/main">
              <a:srgbClr val="ED7D31"/>
            </a:solidFill>
          </c:spPr>
          <c:cat>
            <c:strRef>
              <c:f>'Chart Data'!$A$2:$A$3</c:f>
              <c:strCache>
                <c:ptCount val="2"/>
                <c:pt idx="0">
                  <c:v>Female</c:v>
                </c:pt>
                <c:pt idx="1">
                  <c:v>Male</c:v>
                </c:pt>
              </c:strCache>
            </c:strRef>
          </c:cat>
          <c:val>
            <c:numRef>
              <c:f>'Chart Data'!$B$2:$B$3</c:f>
              <c:numCache>
                <c:formatCode>#,##0</c:formatCode>
                <c:ptCount val="2"/>
                <c:pt idx="0">
                  <c:v>61</c:v>
                </c:pt>
                <c:pt idx="1">
                  <c:v>61</c:v>
                </c:pt>
              </c:numCache>
            </c:numRef>
          </c:val>
        </c:ser>
        <c:ser>
          <c:idx val="1"/>
          <c:order val="1"/>
          <c:tx>
            <c:v>Churn = No</c:v>
          </c:tx>
          <c:spPr>
            <a:solidFill xmlns:a="http://schemas.openxmlformats.org/drawingml/2006/main">
              <a:srgbClr val="4472C4"/>
            </a:solidFill>
          </c:spPr>
          <c:cat>
            <c:strRef>
              <c:f>'Chart Data'!$C$2:$C$3</c:f>
              <c:strCache>
                <c:ptCount val="2"/>
                <c:pt idx="0">
                  <c:v>Female</c:v>
                </c:pt>
                <c:pt idx="1">
                  <c:v>Male</c:v>
                </c:pt>
              </c:strCache>
            </c:strRef>
          </c:cat>
          <c:val>
            <c:numRef>
              <c:f>'Chart Data'!$D$2:$D$3</c:f>
              <c:numCache>
                <c:formatCode>#,##0</c:formatCode>
                <c:ptCount val="2"/>
                <c:pt idx="0">
                  <c:v>212</c:v>
                </c:pt>
                <c:pt idx="1">
                  <c:v>166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275">
                  <a:latin typeface="Arial"/>
                  <a:ea typeface="Arial"/>
                  <a:cs typeface="Arial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#,##0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</a:p>
        </c:txPr>
        <c:crossAx val="48672768"/>
      </c:catAx>
      <c:valAx>
        <c:axId val="48672768"/>
        <c:scaling>
          <c:orientation val="minMax"/>
          <c:min val="0"/>
        </c:scaling>
        <c:delete val="0"/>
        <c:axPos val="l"/>
        <c:numFmt formatCode="#,##0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</a:p>
        </c:txPr>
        <c:crossAx val="48650112"/>
        <c:crossBetween val="between"/>
      </c:valAx>
      <c:spPr>
        <a:solidFill xmlns:a="http://schemas.openxmlformats.org/drawingml/2006/main">
          <a:srgbClr val="FFFFFF"/>
        </a:solidFill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350">
              <a:latin typeface="Arial"/>
              <a:ea typeface="Arial"/>
              <a:cs typeface="Arial"/>
            </a:defRPr>
          </a:pPr>
        </a:p>
      </c:txPr>
    </c:legend>
    <c:plotVisOnly val="1"/>
  </c:chart>
  <c:spPr>
    <a:solidFill xmlns:a="http://schemas.openxmlformats.org/drawingml/2006/main">
      <a:srgbClr val="FFFFFF"/>
    </a:solidFill>
  </c:spPr>
  <c:externalData r:id="rIdChartSnapshot1">
    <c:autoUpdate val="0"/>
  </c:externalData>
</c:chartSpace>
</file>

<file path=ppt/slides/charts/chart10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Churn = Yes</c:v>
          </c:tx>
          <c:spPr>
            <a:solidFill xmlns:a="http://schemas.openxmlformats.org/drawingml/2006/main">
              <a:srgbClr val="ED7D31"/>
            </a:solidFill>
          </c:spPr>
          <c:cat>
            <c:numRef>
              <c:f>'Chart Data'!$A$2:$A$6</c:f>
              <c:numCache>
                <c:formatCode>#,##0</c:formatCode>
                <c:ptCount val="5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</c:numCache>
            </c:numRef>
          </c:cat>
          <c:val>
            <c:numRef>
              <c:f>'Chart Data'!$B$2:$B$6</c:f>
              <c:numCache>
                <c:formatCode>#,##0</c:formatCode>
                <c:ptCount val="5"/>
                <c:pt idx="0">
                  <c:v>25</c:v>
                </c:pt>
                <c:pt idx="1">
                  <c:v>35</c:v>
                </c:pt>
                <c:pt idx="2">
                  <c:v>20</c:v>
                </c:pt>
                <c:pt idx="3">
                  <c:v>18</c:v>
                </c:pt>
                <c:pt idx="4">
                  <c:v>24</c:v>
                </c:pt>
              </c:numCache>
            </c:numRef>
          </c:val>
        </c:ser>
        <c:ser>
          <c:idx val="1"/>
          <c:order val="1"/>
          <c:tx>
            <c:v>Churn = No</c:v>
          </c:tx>
          <c:spPr>
            <a:solidFill xmlns:a="http://schemas.openxmlformats.org/drawingml/2006/main">
              <a:srgbClr val="4472C4"/>
            </a:solidFill>
          </c:spPr>
          <c:cat>
            <c:numRef>
              <c:f>'Chart Data'!$C$2:$C$6</c:f>
              <c:numCache>
                <c:formatCode>#,##0</c:formatCode>
                <c:ptCount val="5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</c:numCache>
            </c:numRef>
          </c:cat>
          <c:val>
            <c:numRef>
              <c:f>'Chart Data'!$D$2:$D$6</c:f>
              <c:numCache>
                <c:formatCode>#,##0</c:formatCode>
                <c:ptCount val="5"/>
                <c:pt idx="0">
                  <c:v>68</c:v>
                </c:pt>
                <c:pt idx="1">
                  <c:v>74</c:v>
                </c:pt>
                <c:pt idx="2">
                  <c:v>74</c:v>
                </c:pt>
                <c:pt idx="3">
                  <c:v>85</c:v>
                </c:pt>
                <c:pt idx="4">
                  <c:v>77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275">
                  <a:latin typeface="Arial"/>
                  <a:ea typeface="Arial"/>
                  <a:cs typeface="Arial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#,##0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</a:p>
        </c:txPr>
        <c:crossAx val="48672768"/>
      </c:catAx>
      <c:valAx>
        <c:axId val="48672768"/>
        <c:scaling>
          <c:orientation val="minMax"/>
          <c:min val="0"/>
        </c:scaling>
        <c:delete val="0"/>
        <c:axPos val="l"/>
        <c:numFmt formatCode="#,##0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</a:p>
        </c:txPr>
        <c:crossAx val="48650112"/>
        <c:crossBetween val="between"/>
      </c:valAx>
      <c:spPr>
        <a:solidFill xmlns:a="http://schemas.openxmlformats.org/drawingml/2006/main">
          <a:srgbClr val="FFFFFF"/>
        </a:solidFill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350">
              <a:latin typeface="Arial"/>
              <a:ea typeface="Arial"/>
              <a:cs typeface="Arial"/>
            </a:defRPr>
          </a:pPr>
        </a:p>
      </c:txPr>
    </c:legend>
    <c:plotVisOnly val="1"/>
  </c:chart>
  <c:spPr>
    <a:solidFill xmlns:a="http://schemas.openxmlformats.org/drawingml/2006/main">
      <a:srgbClr val="FFFFFF"/>
    </a:solidFill>
  </c:spPr>
  <c:externalData r:id="rIdChartSnapshot1">
    <c:autoUpdate val="0"/>
  </c:externalData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ACE042C-7CDF-4EBB-8005-8AF9086348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81000"/>
            <a:ext cx="110490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600" b="1">
                <a:solidFill>
                  <a:srgbClr val="203864"/>
                </a:solidFill>
              </a:defRPr>
            </a:defPPr>
          </a:lstStyle>
          <a:p xmlns:a="http://schemas.openxmlformats.org/drawingml/2006/main">
            <a:pPr>
              <a:buNone/>
              <a:defRPr sz="3600" b="1">
                <a:solidFill>
                  <a:srgbClr val="203864"/>
                </a:solidFill>
              </a:defRPr>
            </a:pPr>
            <a:r>
              <a:rPr sz="3600" b="1">
                <a:solidFill>
                  <a:srgbClr val="203864"/>
                </a:solidFill>
              </a:rPr>
              <a:t>Customer Churn and Sales Analysis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CEA72A5-E04C-4107-A569-B432F87968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571750"/>
            <a:ext cx="10477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000" b="1">
                <a:solidFill>
                  <a:srgbClr val="1F3864"/>
                </a:solidFill>
              </a:defRPr>
            </a:defPPr>
          </a:lstStyle>
          <a:p xmlns:a="http://schemas.openxmlformats.org/drawingml/2006/main">
            <a:pPr>
              <a:buNone/>
              <a:defRPr sz="3000" b="1">
                <a:solidFill>
                  <a:srgbClr val="1F3864"/>
                </a:solidFill>
              </a:defRPr>
            </a:pPr>
            <a:r>
              <a:rPr sz="3000" b="1">
                <a:solidFill>
                  <a:srgbClr val="1F3864"/>
                </a:solidFill>
              </a:rPr>
              <a:t>Power BI Project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9D9B73A-5637-449E-A7EF-88997A4F7C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762375"/>
            <a:ext cx="10477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0">
                <a:solidFill>
                  <a:srgbClr val="333333"/>
                </a:solidFill>
              </a:defRPr>
            </a:defPPr>
          </a:lstStyle>
          <a:p xmlns:a="http://schemas.openxmlformats.org/drawingml/2006/main">
            <a:pPr>
              <a:buNone/>
              <a:defRPr sz="2250" b="0">
                <a:solidFill>
                  <a:srgbClr val="333333"/>
                </a:solidFill>
              </a:defRPr>
            </a:pPr>
            <a:r>
              <a:rPr sz="2250" b="0">
                <a:solidFill>
                  <a:srgbClr val="333333"/>
                </a:solidFill>
              </a:rPr>
              <a:t>A study of 500 customers</a:t>
            </a:r>
          </a:p>
          <a:p xmlns:a="http://schemas.openxmlformats.org/drawingml/2006/main">
            <a:pPr>
              <a:buNone/>
              <a:defRPr sz="2250" b="0">
                <a:solidFill>
                  <a:srgbClr val="333333"/>
                </a:solidFill>
              </a:defRPr>
            </a:pPr>
            <a:r>
              <a:rPr sz="2250" b="0">
                <a:solidFill>
                  <a:srgbClr val="333333"/>
                </a:solidFill>
              </a:rPr>
              <a:t>Sales performance and customer churn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91B2114-894D-4A67-B3C0-93984E83DB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6419850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777777"/>
                </a:solidFill>
              </a:defRPr>
            </a:defPPr>
          </a:lstStyle>
          <a:p xmlns:a="http://schemas.openxmlformats.org/drawingml/2006/main">
            <a:pPr>
              <a:buNone/>
              <a:defRPr sz="1200" b="0">
                <a:solidFill>
                  <a:srgbClr val="777777"/>
                </a:solidFill>
              </a:defRPr>
            </a:pPr>
            <a:r>
              <a:rPr sz="1200" b="0">
                <a:solidFill>
                  <a:srgbClr val="777777"/>
                </a:solidFill>
              </a:rPr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1061657704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E333D00-02AE-4348-96ED-39FB921B6A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81000"/>
            <a:ext cx="110490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850" b="1">
                <a:solidFill>
                  <a:srgbClr val="203864"/>
                </a:solidFill>
              </a:defRPr>
            </a:defPPr>
          </a:lstStyle>
          <a:p xmlns:a="http://schemas.openxmlformats.org/drawingml/2006/main">
            <a:pPr>
              <a:buNone/>
              <a:defRPr sz="2850" b="1">
                <a:solidFill>
                  <a:srgbClr val="203864"/>
                </a:solidFill>
              </a:defRPr>
            </a:pPr>
            <a:r>
              <a:rPr sz="2850" b="1">
                <a:solidFill>
                  <a:srgbClr val="203864"/>
                </a:solidFill>
              </a:rPr>
              <a:t>About the project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5CB57F1-BEFA-40EF-8DD6-2FA918CD63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238250"/>
            <a:ext cx="11049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1">
                <a:solidFill>
                  <a:srgbClr val="4472C4"/>
                </a:solidFill>
              </a:defRPr>
            </a:defPPr>
          </a:lstStyle>
          <a:p xmlns:a="http://schemas.openxmlformats.org/drawingml/2006/main">
            <a:pPr>
              <a:buNone/>
              <a:defRPr sz="1800" b="1">
                <a:solidFill>
                  <a:srgbClr val="4472C4"/>
                </a:solidFill>
              </a:defRPr>
            </a:pPr>
            <a:r>
              <a:rPr sz="1800" b="1">
                <a:solidFill>
                  <a:srgbClr val="4472C4"/>
                </a:solidFill>
              </a:rPr>
              <a:t/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5F58C26-FF04-4AC4-8FC5-0C3EAC7527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809750"/>
            <a:ext cx="10858500" cy="419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0">
                <a:solidFill>
                  <a:srgbClr val="333333"/>
                </a:solidFill>
              </a:defRPr>
            </a:defPPr>
          </a:lstStyle>
          <a:p xmlns:a="http://schemas.openxmlformats.org/drawingml/2006/main">
            <a:pPr>
              <a:buNone/>
              <a:defRPr sz="2100" b="0">
                <a:solidFill>
                  <a:srgbClr val="333333"/>
                </a:solidFill>
              </a:defRPr>
            </a:pPr>
            <a:r>
              <a:rPr sz="2100" b="0">
                <a:solidFill>
                  <a:srgbClr val="333333"/>
                </a:solidFill>
              </a:rPr>
              <a:t>The project looks at sales performance and customer churn.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buNone/>
              <a:defRPr sz="2100" b="0">
                <a:solidFill>
                  <a:srgbClr val="333333"/>
                </a:solidFill>
              </a:defRPr>
            </a:pPr>
            <a:r>
              <a:rPr sz="2100" b="0">
                <a:solidFill>
                  <a:srgbClr val="333333"/>
                </a:solidFill>
              </a:rPr>
              <a:t>I used the Excel customer dataset and the two Power BI report files.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buNone/>
              <a:defRPr sz="2100" b="0">
                <a:solidFill>
                  <a:srgbClr val="333333"/>
                </a:solidFill>
              </a:defRPr>
            </a:pPr>
            <a:r>
              <a:rPr sz="2100" b="0">
                <a:solidFill>
                  <a:srgbClr val="333333"/>
                </a:solidFill>
              </a:rPr>
              <a:t>The sales page compares products and cities. The churn page compares customer groups, satisfaction scores and support calls.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77D8584-420B-4C5C-9684-DE6ED9BC1C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6419850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777777"/>
                </a:solidFill>
              </a:defRPr>
            </a:defPPr>
          </a:lstStyle>
          <a:p xmlns:a="http://schemas.openxmlformats.org/drawingml/2006/main">
            <a:pPr>
              <a:buNone/>
              <a:defRPr sz="1200" b="0">
                <a:solidFill>
                  <a:srgbClr val="777777"/>
                </a:solidFill>
              </a:defRPr>
            </a:pPr>
            <a:r>
              <a:rPr sz="1200" b="0">
                <a:solidFill>
                  <a:srgbClr val="777777"/>
                </a:solidFill>
              </a:rPr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1295459358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CA59A0D-46DA-429D-8C81-F3B9E25F71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81000"/>
            <a:ext cx="110490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850" b="1">
                <a:solidFill>
                  <a:srgbClr val="203864"/>
                </a:solidFill>
              </a:defRPr>
            </a:defPPr>
          </a:lstStyle>
          <a:p xmlns:a="http://schemas.openxmlformats.org/drawingml/2006/main">
            <a:pPr>
              <a:buNone/>
              <a:defRPr sz="2850" b="1">
                <a:solidFill>
                  <a:srgbClr val="203864"/>
                </a:solidFill>
              </a:defRPr>
            </a:pPr>
            <a:r>
              <a:rPr sz="2850" b="1">
                <a:solidFill>
                  <a:srgbClr val="203864"/>
                </a:solidFill>
              </a:rPr>
              <a:t>Dataset summary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6E17829-B0D6-4263-B27F-8B0602C07A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238250"/>
            <a:ext cx="11049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1">
                <a:solidFill>
                  <a:srgbClr val="4472C4"/>
                </a:solidFill>
              </a:defRPr>
            </a:defPPr>
          </a:lstStyle>
          <a:p xmlns:a="http://schemas.openxmlformats.org/drawingml/2006/main">
            <a:pPr>
              <a:buNone/>
              <a:defRPr sz="1800" b="1">
                <a:solidFill>
                  <a:srgbClr val="4472C4"/>
                </a:solidFill>
              </a:defRPr>
            </a:pPr>
            <a:r>
              <a:rPr sz="1800" b="1">
                <a:solidFill>
                  <a:srgbClr val="4472C4"/>
                </a:solidFill>
              </a:rPr>
              <a:t/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CF0535C-B397-4503-9A30-0D2D1ABE1B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286000"/>
            <a:ext cx="53340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150" b="1">
                <a:solidFill>
                  <a:srgbClr val="1F3864"/>
                </a:solidFill>
              </a:defRPr>
            </a:defPPr>
          </a:lstStyle>
          <a:p xmlns:a="http://schemas.openxmlformats.org/drawingml/2006/main">
            <a:pPr>
              <a:buNone/>
              <a:defRPr sz="3150" b="1">
                <a:solidFill>
                  <a:srgbClr val="1F3864"/>
                </a:solidFill>
              </a:defRPr>
            </a:pPr>
            <a:r>
              <a:rPr sz="3150" b="1">
                <a:solidFill>
                  <a:srgbClr val="1F3864"/>
                </a:solidFill>
              </a:rPr>
              <a:t>500</a:t>
            </a:r>
          </a:p>
          <a:p xmlns:a="http://schemas.openxmlformats.org/drawingml/2006/main">
            <a:pPr>
              <a:buNone/>
              <a:defRPr sz="3150" b="1">
                <a:solidFill>
                  <a:srgbClr val="1F3864"/>
                </a:solidFill>
              </a:defRPr>
            </a:pPr>
            <a:r>
              <a:rPr sz="3150" b="1">
                <a:solidFill>
                  <a:srgbClr val="1F3864"/>
                </a:solidFill>
              </a:rPr>
              <a:t>Unique customers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CDD50D1-415C-445A-81B1-86392BB1B0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286000"/>
            <a:ext cx="53340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150" b="1">
                <a:solidFill>
                  <a:srgbClr val="1F3864"/>
                </a:solidFill>
              </a:defRPr>
            </a:defPPr>
          </a:lstStyle>
          <a:p xmlns:a="http://schemas.openxmlformats.org/drawingml/2006/main">
            <a:pPr>
              <a:buNone/>
              <a:defRPr sz="3150" b="1">
                <a:solidFill>
                  <a:srgbClr val="1F3864"/>
                </a:solidFill>
              </a:defRPr>
            </a:pPr>
            <a:r>
              <a:rPr sz="3150" b="1">
                <a:solidFill>
                  <a:srgbClr val="1F3864"/>
                </a:solidFill>
              </a:rPr>
              <a:t>122</a:t>
            </a:r>
          </a:p>
          <a:p xmlns:a="http://schemas.openxmlformats.org/drawingml/2006/main">
            <a:pPr>
              <a:buNone/>
              <a:defRPr sz="3150" b="1">
                <a:solidFill>
                  <a:srgbClr val="1F3864"/>
                </a:solidFill>
              </a:defRPr>
            </a:pPr>
            <a:r>
              <a:rPr sz="3150" b="1">
                <a:solidFill>
                  <a:srgbClr val="1F3864"/>
                </a:solidFill>
              </a:rPr>
              <a:t>Churned customers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EE3AAE1-4171-4AC2-986F-EC90AA043A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000500"/>
            <a:ext cx="53340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150" b="1">
                <a:solidFill>
                  <a:srgbClr val="ED7D31"/>
                </a:solidFill>
              </a:defRPr>
            </a:defPPr>
          </a:lstStyle>
          <a:p xmlns:a="http://schemas.openxmlformats.org/drawingml/2006/main">
            <a:pPr>
              <a:buNone/>
              <a:defRPr sz="3150" b="1">
                <a:solidFill>
                  <a:srgbClr val="ED7D31"/>
                </a:solidFill>
              </a:defRPr>
            </a:pPr>
            <a:r>
              <a:rPr sz="3150" b="1">
                <a:solidFill>
                  <a:srgbClr val="ED7D31"/>
                </a:solidFill>
              </a:rPr>
              <a:t>24.4%</a:t>
            </a:r>
          </a:p>
          <a:p xmlns:a="http://schemas.openxmlformats.org/drawingml/2006/main">
            <a:pPr>
              <a:buNone/>
              <a:defRPr sz="3150" b="1">
                <a:solidFill>
                  <a:srgbClr val="ED7D31"/>
                </a:solidFill>
              </a:defRPr>
            </a:pPr>
            <a:r>
              <a:rPr sz="3150" b="1">
                <a:solidFill>
                  <a:srgbClr val="ED7D31"/>
                </a:solidFill>
              </a:rPr>
              <a:t>Churn rate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6CE1C26-763D-436D-82AF-8A8B3EDA92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4000500"/>
            <a:ext cx="53340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150" b="1">
                <a:solidFill>
                  <a:srgbClr val="1F3864"/>
                </a:solidFill>
              </a:defRPr>
            </a:defPPr>
          </a:lstStyle>
          <a:p xmlns:a="http://schemas.openxmlformats.org/drawingml/2006/main">
            <a:pPr>
              <a:buNone/>
              <a:defRPr sz="3150" b="1">
                <a:solidFill>
                  <a:srgbClr val="1F3864"/>
                </a:solidFill>
              </a:defRPr>
            </a:pPr>
            <a:r>
              <a:rPr sz="3150" b="1">
                <a:solidFill>
                  <a:srgbClr val="1F3864"/>
                </a:solidFill>
              </a:rPr>
              <a:t>3.02 / 5</a:t>
            </a:r>
          </a:p>
          <a:p xmlns:a="http://schemas.openxmlformats.org/drawingml/2006/main">
            <a:pPr>
              <a:buNone/>
              <a:defRPr sz="3150" b="1">
                <a:solidFill>
                  <a:srgbClr val="1F3864"/>
                </a:solidFill>
              </a:defRPr>
            </a:pPr>
            <a:r>
              <a:rPr sz="3150" b="1">
                <a:solidFill>
                  <a:srgbClr val="1F3864"/>
                </a:solidFill>
              </a:rPr>
              <a:t>Average satisfaction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4328DDB-A493-47B0-B16B-85DEB5A6E8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000750"/>
            <a:ext cx="11049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1">
                <a:solidFill>
                  <a:srgbClr val="4472C4"/>
                </a:solidFill>
              </a:defRPr>
            </a:defPPr>
          </a:lstStyle>
          <a:p xmlns:a="http://schemas.openxmlformats.org/drawingml/2006/main">
            <a:pPr>
              <a:buNone/>
              <a:defRPr sz="2025" b="1">
                <a:solidFill>
                  <a:srgbClr val="4472C4"/>
                </a:solidFill>
              </a:defRPr>
            </a:pPr>
            <a:r>
              <a:rPr sz="2025" b="1">
                <a:solidFill>
                  <a:srgbClr val="4472C4"/>
                </a:solidFill>
              </a:rPr>
              <a:t>Sum of Sales: 4,493,600    Sum of Total_Orders: 5,135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E8245AF-DA59-4656-BF68-15C985D995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6419850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777777"/>
                </a:solidFill>
              </a:defRPr>
            </a:defPPr>
          </a:lstStyle>
          <a:p xmlns:a="http://schemas.openxmlformats.org/drawingml/2006/main">
            <a:pPr>
              <a:buNone/>
              <a:defRPr sz="1200" b="0">
                <a:solidFill>
                  <a:srgbClr val="777777"/>
                </a:solidFill>
              </a:defRPr>
            </a:pPr>
            <a:r>
              <a:rPr sz="1200" b="0">
                <a:solidFill>
                  <a:srgbClr val="777777"/>
                </a:solidFill>
              </a:rPr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241162488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CE72728-8539-49B1-A323-8D5129AB2F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81000"/>
            <a:ext cx="110490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850" b="1">
                <a:solidFill>
                  <a:srgbClr val="203864"/>
                </a:solidFill>
              </a:defRPr>
            </a:defPPr>
          </a:lstStyle>
          <a:p xmlns:a="http://schemas.openxmlformats.org/drawingml/2006/main">
            <a:pPr>
              <a:buNone/>
              <a:defRPr sz="2850" b="1">
                <a:solidFill>
                  <a:srgbClr val="203864"/>
                </a:solidFill>
              </a:defRPr>
            </a:pPr>
            <a:r>
              <a:rPr sz="2850" b="1">
                <a:solidFill>
                  <a:srgbClr val="203864"/>
                </a:solidFill>
              </a:rPr>
              <a:t>Importing the Excel file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EDADE20-0D10-440E-AA89-2EC7170EBF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238250"/>
            <a:ext cx="11049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1">
                <a:solidFill>
                  <a:srgbClr val="4472C4"/>
                </a:solidFill>
              </a:defRPr>
            </a:defPPr>
          </a:lstStyle>
          <a:p xmlns:a="http://schemas.openxmlformats.org/drawingml/2006/main">
            <a:pPr>
              <a:buNone/>
              <a:defRPr sz="1800" b="1">
                <a:solidFill>
                  <a:srgbClr val="4472C4"/>
                </a:solidFill>
              </a:defRPr>
            </a:pPr>
            <a:r>
              <a:rPr sz="1800" b="1">
                <a:solidFill>
                  <a:srgbClr val="4472C4"/>
                </a:solidFill>
              </a:rPr>
              <a:t/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DE2E892-F7EB-4FB9-A95C-5C1D433542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809750"/>
            <a:ext cx="10858500" cy="419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0">
                <a:solidFill>
                  <a:srgbClr val="333333"/>
                </a:solidFill>
              </a:defRPr>
            </a:defPPr>
          </a:lstStyle>
          <a:p xmlns:a="http://schemas.openxmlformats.org/drawingml/2006/main">
            <a:pPr>
              <a:buNone/>
              <a:defRPr sz="2100" b="0">
                <a:solidFill>
                  <a:srgbClr val="333333"/>
                </a:solidFill>
              </a:defRPr>
            </a:pPr>
            <a:r>
              <a:rPr sz="2100" b="0">
                <a:solidFill>
                  <a:srgbClr val="333333"/>
                </a:solidFill>
              </a:rPr>
              <a:t>1. Open Power BI Desktop and choose Excel workbook.</a:t>
            </a:r>
          </a:p>
          <a:p xmlns:a="http://schemas.openxmlformats.org/drawingml/2006/main">
            <a:pPr>
              <a:buNone/>
              <a:defRPr sz="2100" b="0">
                <a:solidFill>
                  <a:srgbClr val="333333"/>
                </a:solidFill>
              </a:defRPr>
            </a:pPr>
            <a:r>
              <a:rPr sz="2100" b="0">
                <a:solidFill>
                  <a:srgbClr val="333333"/>
                </a:solidFill>
              </a:rPr>
              <a:t>2. Select Customer_Churn_Sales_Data_500(2).xlsx.</a:t>
            </a:r>
          </a:p>
          <a:p xmlns:a="http://schemas.openxmlformats.org/drawingml/2006/main">
            <a:pPr>
              <a:buNone/>
              <a:defRPr sz="2100" b="0">
                <a:solidFill>
                  <a:srgbClr val="333333"/>
                </a:solidFill>
              </a:defRPr>
            </a:pPr>
            <a:r>
              <a:rPr sz="2100" b="0">
                <a:solidFill>
                  <a:srgbClr val="333333"/>
                </a:solidFill>
              </a:rPr>
              <a:t>3. Tick Sheet1 in Navigator.</a:t>
            </a:r>
          </a:p>
          <a:p xmlns:a="http://schemas.openxmlformats.org/drawingml/2006/main">
            <a:pPr>
              <a:buNone/>
              <a:defRPr sz="2100" b="0">
                <a:solidFill>
                  <a:srgbClr val="333333"/>
                </a:solidFill>
              </a:defRPr>
            </a:pPr>
            <a:r>
              <a:rPr sz="2100" b="0">
                <a:solidFill>
                  <a:srgbClr val="333333"/>
                </a:solidFill>
              </a:rPr>
              <a:t>4. Choose Transform Data to inspect the table.</a:t>
            </a:r>
          </a:p>
          <a:p xmlns:a="http://schemas.openxmlformats.org/drawingml/2006/main">
            <a:pPr>
              <a:buNone/>
              <a:defRPr sz="2100" b="0">
                <a:solidFill>
                  <a:srgbClr val="333333"/>
                </a:solidFill>
              </a:defRPr>
            </a:pPr>
            <a:r>
              <a:rPr sz="2100" b="0">
                <a:solidFill>
                  <a:srgbClr val="333333"/>
                </a:solidFill>
              </a:rPr>
              <a:t>5. Keep its name Sheet1 so the formulas match this guide.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9649312-64A3-4A53-9144-EC82790C7E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6419850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777777"/>
                </a:solidFill>
              </a:defRPr>
            </a:defPPr>
          </a:lstStyle>
          <a:p xmlns:a="http://schemas.openxmlformats.org/drawingml/2006/main">
            <a:pPr>
              <a:buNone/>
              <a:defRPr sz="1200" b="0">
                <a:solidFill>
                  <a:srgbClr val="777777"/>
                </a:solidFill>
              </a:defRPr>
            </a:pPr>
            <a:r>
              <a:rPr sz="1200" b="0">
                <a:solidFill>
                  <a:srgbClr val="777777"/>
                </a:solidFill>
              </a:rPr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1912866145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C0B7055-99E2-46A7-AEE3-DCC9D6B65E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81000"/>
            <a:ext cx="110490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850" b="1">
                <a:solidFill>
                  <a:srgbClr val="203864"/>
                </a:solidFill>
              </a:defRPr>
            </a:defPPr>
          </a:lstStyle>
          <a:p xmlns:a="http://schemas.openxmlformats.org/drawingml/2006/main">
            <a:pPr>
              <a:buNone/>
              <a:defRPr sz="2850" b="1">
                <a:solidFill>
                  <a:srgbClr val="203864"/>
                </a:solidFill>
              </a:defRPr>
            </a:pPr>
            <a:r>
              <a:rPr sz="2850" b="1">
                <a:solidFill>
                  <a:srgbClr val="203864"/>
                </a:solidFill>
              </a:rPr>
              <a:t>Understanding the data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AA9F7AA-A6B2-43CD-9135-9EF08FDC41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238250"/>
            <a:ext cx="11049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1">
                <a:solidFill>
                  <a:srgbClr val="4472C4"/>
                </a:solidFill>
              </a:defRPr>
            </a:defPPr>
          </a:lstStyle>
          <a:p xmlns:a="http://schemas.openxmlformats.org/drawingml/2006/main">
            <a:pPr>
              <a:buNone/>
              <a:defRPr sz="1800" b="1">
                <a:solidFill>
                  <a:srgbClr val="4472C4"/>
                </a:solidFill>
              </a:defRPr>
            </a:pPr>
            <a:r>
              <a:rPr sz="1800" b="1">
                <a:solidFill>
                  <a:srgbClr val="4472C4"/>
                </a:solidFill>
              </a:rPr>
              <a:t/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B53720A-5B48-4677-8FAE-F592FFC0EB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809750"/>
            <a:ext cx="10858500" cy="419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0">
                <a:solidFill>
                  <a:srgbClr val="333333"/>
                </a:solidFill>
              </a:defRPr>
            </a:defPPr>
          </a:lstStyle>
          <a:p xmlns:a="http://schemas.openxmlformats.org/drawingml/2006/main">
            <a:pPr>
              <a:buNone/>
              <a:defRPr sz="2100" b="0">
                <a:solidFill>
                  <a:srgbClr val="333333"/>
                </a:solidFill>
              </a:defRPr>
            </a:pPr>
            <a:r>
              <a:rPr sz="2100" b="0">
                <a:solidFill>
                  <a:srgbClr val="333333"/>
                </a:solidFill>
              </a:rPr>
              <a:t>The file contains 500 customer records and 19 columns.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buNone/>
              <a:defRPr sz="2100" b="0">
                <a:solidFill>
                  <a:srgbClr val="333333"/>
                </a:solidFill>
              </a:defRPr>
            </a:pPr>
            <a:r>
              <a:rPr sz="2100" b="0">
                <a:solidFill>
                  <a:srgbClr val="333333"/>
                </a:solidFill>
              </a:rPr>
              <a:t>Customer details include ID, gender, age, city and customer type.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buNone/>
              <a:defRPr sz="2100" b="0">
                <a:solidFill>
                  <a:srgbClr val="333333"/>
                </a:solidFill>
              </a:defRPr>
            </a:pPr>
            <a:r>
              <a:rPr sz="2100" b="0">
                <a:solidFill>
                  <a:srgbClr val="333333"/>
                </a:solidFill>
              </a:rPr>
              <a:t>Sales details include product, sales, quantity, order dates, payment mode and discounts.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buNone/>
              <a:defRPr sz="2100" b="0">
                <a:solidFill>
                  <a:srgbClr val="333333"/>
                </a:solidFill>
              </a:defRPr>
            </a:pPr>
            <a:r>
              <a:rPr sz="2100" b="0">
                <a:solidFill>
                  <a:srgbClr val="333333"/>
                </a:solidFill>
              </a:rPr>
              <a:t>The remaining fields describe customer activity and churn. Each row has a different Customer_ID.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89E38EA-BE56-41B7-A378-86E557ABA1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6419850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777777"/>
                </a:solidFill>
              </a:defRPr>
            </a:defPPr>
          </a:lstStyle>
          <a:p xmlns:a="http://schemas.openxmlformats.org/drawingml/2006/main">
            <a:pPr>
              <a:buNone/>
              <a:defRPr sz="1200" b="0">
                <a:solidFill>
                  <a:srgbClr val="777777"/>
                </a:solidFill>
              </a:defRPr>
            </a:pPr>
            <a:r>
              <a:rPr sz="1200" b="0">
                <a:solidFill>
                  <a:srgbClr val="777777"/>
                </a:solidFill>
              </a:rPr>
              <a:t>5</a:t>
            </a:r>
          </a:p>
        </p:txBody>
      </p:sp>
    </p:spTree>
    <p:extLst>
      <p:ext uri="{BB962C8B-B14F-4D97-AF65-F5344CB8AC3E}">
        <p14:creationId xmlns:p14="http://schemas.microsoft.com/office/powerpoint/2010/main" val="1244285036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15B2B4E-2D35-4A18-B0EF-56110978C6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81000"/>
            <a:ext cx="110490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850" b="1">
                <a:solidFill>
                  <a:srgbClr val="203864"/>
                </a:solidFill>
              </a:defRPr>
            </a:defPPr>
          </a:lstStyle>
          <a:p xmlns:a="http://schemas.openxmlformats.org/drawingml/2006/main">
            <a:pPr>
              <a:buNone/>
              <a:defRPr sz="2850" b="1">
                <a:solidFill>
                  <a:srgbClr val="203864"/>
                </a:solidFill>
              </a:defRPr>
            </a:pPr>
            <a:r>
              <a:rPr sz="2850" b="1">
                <a:solidFill>
                  <a:srgbClr val="203864"/>
                </a:solidFill>
              </a:rPr>
              <a:t>Preparing the data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B4B1B66-7B1E-4492-BACE-2B04C25B46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238250"/>
            <a:ext cx="11049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1">
                <a:solidFill>
                  <a:srgbClr val="4472C4"/>
                </a:solidFill>
              </a:defRPr>
            </a:defPPr>
          </a:lstStyle>
          <a:p xmlns:a="http://schemas.openxmlformats.org/drawingml/2006/main">
            <a:pPr>
              <a:buNone/>
              <a:defRPr sz="1800" b="1">
                <a:solidFill>
                  <a:srgbClr val="4472C4"/>
                </a:solidFill>
              </a:defRPr>
            </a:pPr>
            <a:r>
              <a:rPr sz="1800" b="1">
                <a:solidFill>
                  <a:srgbClr val="4472C4"/>
                </a:solidFill>
              </a:rPr>
              <a:t/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D4C8EB4-E497-457F-A7FD-B2D927AC4D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809750"/>
            <a:ext cx="10858500" cy="419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0">
                <a:solidFill>
                  <a:srgbClr val="333333"/>
                </a:solidFill>
              </a:defRPr>
            </a:defPPr>
          </a:lstStyle>
          <a:p xmlns:a="http://schemas.openxmlformats.org/drawingml/2006/main">
            <a:pPr>
              <a:buNone/>
              <a:defRPr sz="2100" b="0">
                <a:solidFill>
                  <a:srgbClr val="333333"/>
                </a:solidFill>
              </a:defRPr>
            </a:pPr>
            <a:r>
              <a:rPr sz="2100" b="0">
                <a:solidFill>
                  <a:srgbClr val="333333"/>
                </a:solidFill>
              </a:rPr>
              <a:t>1. Use Text for IDs and category fields.</a:t>
            </a:r>
          </a:p>
          <a:p xmlns:a="http://schemas.openxmlformats.org/drawingml/2006/main">
            <a:pPr>
              <a:buNone/>
              <a:defRPr sz="2100" b="0">
                <a:solidFill>
                  <a:srgbClr val="333333"/>
                </a:solidFill>
              </a:defRPr>
            </a:pPr>
            <a:r>
              <a:rPr sz="2100" b="0">
                <a:solidFill>
                  <a:srgbClr val="333333"/>
                </a:solidFill>
              </a:rPr>
              <a:t>2. Use Whole Number for Age, Quantity, Total_Orders, tenure, support calls and satisfaction. Use a numeric type for Sales.</a:t>
            </a:r>
          </a:p>
          <a:p xmlns:a="http://schemas.openxmlformats.org/drawingml/2006/main">
            <a:pPr>
              <a:buNone/>
              <a:defRPr sz="2100" b="0">
                <a:solidFill>
                  <a:srgbClr val="333333"/>
                </a:solidFill>
              </a:defRPr>
            </a:pPr>
            <a:r>
              <a:rPr sz="2100" b="0">
                <a:solidFill>
                  <a:srgbClr val="333333"/>
                </a:solidFill>
              </a:rPr>
              <a:t>3. Use Date for Order_Date and Last_Purchase_Date.</a:t>
            </a:r>
          </a:p>
          <a:p xmlns:a="http://schemas.openxmlformats.org/drawingml/2006/main">
            <a:pPr>
              <a:buNone/>
              <a:defRPr sz="2100" b="0">
                <a:solidFill>
                  <a:srgbClr val="333333"/>
                </a:solidFill>
              </a:defRPr>
            </a:pPr>
            <a:r>
              <a:rPr sz="2100" b="0">
                <a:solidFill>
                  <a:srgbClr val="333333"/>
                </a:solidFill>
              </a:rPr>
              <a:t>4. Trim text and confirm Churn contains Yes and No.</a:t>
            </a:r>
          </a:p>
          <a:p xmlns:a="http://schemas.openxmlformats.org/drawingml/2006/main">
            <a:pPr>
              <a:buNone/>
              <a:defRPr sz="2100" b="0">
                <a:solidFill>
                  <a:srgbClr val="333333"/>
                </a:solidFill>
              </a:defRPr>
            </a:pPr>
            <a:r>
              <a:rPr sz="2100" b="0">
                <a:solidFill>
                  <a:srgbClr val="333333"/>
                </a:solidFill>
              </a:rPr>
              <a:t>5. Check missing values and duplicate IDs, then Close &amp; Apply.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buNone/>
              <a:defRPr sz="2100" b="0">
                <a:solidFill>
                  <a:srgbClr val="333333"/>
                </a:solidFill>
              </a:defRPr>
            </a:pPr>
            <a:r>
              <a:rPr sz="2100" b="0">
                <a:solidFill>
                  <a:srgbClr val="333333"/>
                </a:solidFill>
              </a:rPr>
              <a:t>This workbook has 500 unique IDs and no blank cells in its 500 data rows.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7ED4769-7E5E-41CB-8095-A1369C9C07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6419850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777777"/>
                </a:solidFill>
              </a:defRPr>
            </a:defPPr>
          </a:lstStyle>
          <a:p xmlns:a="http://schemas.openxmlformats.org/drawingml/2006/main">
            <a:pPr>
              <a:buNone/>
              <a:defRPr sz="1200" b="0">
                <a:solidFill>
                  <a:srgbClr val="777777"/>
                </a:solidFill>
              </a:defRPr>
            </a:pPr>
            <a:r>
              <a:rPr sz="1200" b="0">
                <a:solidFill>
                  <a:srgbClr val="777777"/>
                </a:solidFill>
              </a:rPr>
              <a:t>6</a:t>
            </a:r>
          </a:p>
        </p:txBody>
      </p:sp>
    </p:spTree>
    <p:extLst>
      <p:ext uri="{BB962C8B-B14F-4D97-AF65-F5344CB8AC3E}">
        <p14:creationId xmlns:p14="http://schemas.microsoft.com/office/powerpoint/2010/main" val="845310228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204EDA0-9DD8-43C2-84DB-650E22D281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81000"/>
            <a:ext cx="110490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850" b="1">
                <a:solidFill>
                  <a:srgbClr val="203864"/>
                </a:solidFill>
              </a:defRPr>
            </a:defPPr>
          </a:lstStyle>
          <a:p xmlns:a="http://schemas.openxmlformats.org/drawingml/2006/main">
            <a:pPr>
              <a:buNone/>
              <a:defRPr sz="2850" b="1">
                <a:solidFill>
                  <a:srgbClr val="203864"/>
                </a:solidFill>
              </a:defRPr>
            </a:pPr>
            <a:r>
              <a:rPr sz="2850" b="1">
                <a:solidFill>
                  <a:srgbClr val="203864"/>
                </a:solidFill>
              </a:rPr>
              <a:t>Sales measures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46FE659-8257-4D92-9220-38BDD49AB2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238250"/>
            <a:ext cx="11049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1">
                <a:solidFill>
                  <a:srgbClr val="4472C4"/>
                </a:solidFill>
              </a:defRPr>
            </a:defPPr>
          </a:lstStyle>
          <a:p xmlns:a="http://schemas.openxmlformats.org/drawingml/2006/main">
            <a:pPr>
              <a:buNone/>
              <a:defRPr sz="1800" b="1">
                <a:solidFill>
                  <a:srgbClr val="4472C4"/>
                </a:solidFill>
              </a:defRPr>
            </a:pPr>
            <a:r>
              <a:rPr sz="1800" b="1">
                <a:solidFill>
                  <a:srgbClr val="4472C4"/>
                </a:solidFill>
              </a:rPr>
              <a:t/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082E3B0-EC9F-4AE1-842F-64CEA7B43E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809750"/>
            <a:ext cx="10858500" cy="419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0">
                <a:solidFill>
                  <a:srgbClr val="333333"/>
                </a:solidFill>
              </a:defRPr>
            </a:defPPr>
          </a:lstStyle>
          <a:p xmlns:a="http://schemas.openxmlformats.org/drawingml/2006/main">
            <a:pPr>
              <a:buNone/>
              <a:defRPr sz="2100" b="0">
                <a:solidFill>
                  <a:srgbClr val="333333"/>
                </a:solidFill>
              </a:defRPr>
            </a:pPr>
            <a:r>
              <a:rPr sz="2100" b="0">
                <a:solidFill>
                  <a:srgbClr val="333333"/>
                </a:solidFill>
              </a:rPr>
              <a:t>Total Sales = SUM('Sheet1'[Sales])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buNone/>
              <a:defRPr sz="2100" b="0">
                <a:solidFill>
                  <a:srgbClr val="333333"/>
                </a:solidFill>
              </a:defRPr>
            </a:pPr>
            <a:r>
              <a:rPr sz="2100" b="0">
                <a:solidFill>
                  <a:srgbClr val="333333"/>
                </a:solidFill>
              </a:rPr>
              <a:t>Total Orders = SUM('Sheet1'[Total_Orders])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buNone/>
              <a:defRPr sz="2100" b="0">
                <a:solidFill>
                  <a:srgbClr val="333333"/>
                </a:solidFill>
              </a:defRPr>
            </a:pPr>
            <a:r>
              <a:rPr sz="2100" b="0">
                <a:solidFill>
                  <a:srgbClr val="333333"/>
                </a:solidFill>
              </a:rPr>
              <a:t>Total Customers = DISTINCTCOUNT('Sheet1'[Customer_ID])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buNone/>
              <a:defRPr sz="2100" b="0">
                <a:solidFill>
                  <a:srgbClr val="333333"/>
                </a:solidFill>
              </a:defRPr>
            </a:pPr>
            <a:r>
              <a:rPr sz="2100" b="0">
                <a:solidFill>
                  <a:srgbClr val="333333"/>
                </a:solidFill>
              </a:rPr>
              <a:t>Expected unfiltered results: 4,493,600 sales, 5,135 total orders and 500 customers. Sales currency is not specified in the file.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66A20D4-A679-483D-8982-58AB9C8AF9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6419850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777777"/>
                </a:solidFill>
              </a:defRPr>
            </a:defPPr>
          </a:lstStyle>
          <a:p xmlns:a="http://schemas.openxmlformats.org/drawingml/2006/main">
            <a:pPr>
              <a:buNone/>
              <a:defRPr sz="1200" b="0">
                <a:solidFill>
                  <a:srgbClr val="777777"/>
                </a:solidFill>
              </a:defRPr>
            </a:pPr>
            <a:r>
              <a:rPr sz="1200" b="0">
                <a:solidFill>
                  <a:srgbClr val="777777"/>
                </a:solidFill>
              </a:rPr>
              <a:t>7</a:t>
            </a:r>
          </a:p>
        </p:txBody>
      </p:sp>
    </p:spTree>
    <p:extLst>
      <p:ext uri="{BB962C8B-B14F-4D97-AF65-F5344CB8AC3E}">
        <p14:creationId xmlns:p14="http://schemas.microsoft.com/office/powerpoint/2010/main" val="819967888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9727322-E812-4B38-A8F1-8C0D42A71F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81000"/>
            <a:ext cx="110490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850" b="1">
                <a:solidFill>
                  <a:srgbClr val="203864"/>
                </a:solidFill>
              </a:defRPr>
            </a:defPPr>
          </a:lstStyle>
          <a:p xmlns:a="http://schemas.openxmlformats.org/drawingml/2006/main">
            <a:pPr>
              <a:buNone/>
              <a:defRPr sz="2850" b="1">
                <a:solidFill>
                  <a:srgbClr val="203864"/>
                </a:solidFill>
              </a:defRPr>
            </a:pPr>
            <a:r>
              <a:rPr sz="2850" b="1">
                <a:solidFill>
                  <a:srgbClr val="203864"/>
                </a:solidFill>
              </a:rPr>
              <a:t>Churn measures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523E9EC-A0FC-4862-866C-22839D1976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238250"/>
            <a:ext cx="11049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1">
                <a:solidFill>
                  <a:srgbClr val="4472C4"/>
                </a:solidFill>
              </a:defRPr>
            </a:defPPr>
          </a:lstStyle>
          <a:p xmlns:a="http://schemas.openxmlformats.org/drawingml/2006/main">
            <a:pPr>
              <a:buNone/>
              <a:defRPr sz="1800" b="1">
                <a:solidFill>
                  <a:srgbClr val="4472C4"/>
                </a:solidFill>
              </a:defRPr>
            </a:pPr>
            <a:r>
              <a:rPr sz="1800" b="1">
                <a:solidFill>
                  <a:srgbClr val="4472C4"/>
                </a:solidFill>
              </a:rPr>
              <a:t/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A0E699F-A029-4B12-81CB-3008D93277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809750"/>
            <a:ext cx="10858500" cy="419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0">
                <a:solidFill>
                  <a:srgbClr val="333333"/>
                </a:solidFill>
              </a:defRPr>
            </a:defPPr>
          </a:lstStyle>
          <a:p xmlns:a="http://schemas.openxmlformats.org/drawingml/2006/main">
            <a:pPr>
              <a:buNone/>
              <a:defRPr sz="2100" b="0">
                <a:solidFill>
                  <a:srgbClr val="333333"/>
                </a:solidFill>
              </a:defRPr>
            </a:pPr>
            <a:r>
              <a:rPr sz="2100" b="0">
                <a:solidFill>
                  <a:srgbClr val="333333"/>
                </a:solidFill>
              </a:rPr>
              <a:t>Churned Customers =</a:t>
            </a:r>
          </a:p>
          <a:p xmlns:a="http://schemas.openxmlformats.org/drawingml/2006/main">
            <a:pPr>
              <a:buNone/>
              <a:defRPr sz="2100" b="0">
                <a:solidFill>
                  <a:srgbClr val="333333"/>
                </a:solidFill>
              </a:defRPr>
            </a:pPr>
            <a:r>
              <a:rPr sz="2100" b="0">
                <a:solidFill>
                  <a:srgbClr val="333333"/>
                </a:solidFill>
              </a:rPr>
              <a:t>CALCULATE([Total Customers], 'Sheet1'[Churn] = "Yes")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buNone/>
              <a:defRPr sz="2100" b="0">
                <a:solidFill>
                  <a:srgbClr val="333333"/>
                </a:solidFill>
              </a:defRPr>
            </a:pPr>
            <a:r>
              <a:rPr sz="2100" b="0">
                <a:solidFill>
                  <a:srgbClr val="333333"/>
                </a:solidFill>
              </a:rPr>
              <a:t>Churn Rate = DIVIDE([Churned Customers], [Total Customers], 0)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buNone/>
              <a:defRPr sz="2100" b="0">
                <a:solidFill>
                  <a:srgbClr val="333333"/>
                </a:solidFill>
              </a:defRPr>
            </a:pPr>
            <a:r>
              <a:rPr sz="2100" b="0">
                <a:solidFill>
                  <a:srgbClr val="333333"/>
                </a:solidFill>
              </a:rPr>
              <a:t>Average Satisfaction = AVERAGE('Sheet1'[Satisfaction_Score])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buNone/>
              <a:defRPr sz="2100" b="0">
                <a:solidFill>
                  <a:srgbClr val="333333"/>
                </a:solidFill>
              </a:defRPr>
            </a:pPr>
            <a:r>
              <a:rPr sz="2100" b="0">
                <a:solidFill>
                  <a:srgbClr val="333333"/>
                </a:solidFill>
              </a:rPr>
              <a:t>Format Churn Rate as Percentage. Expected results: 122, 24.4% and 3.02.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053F6C7-B6D5-4740-B7C6-E9E9B8CD5A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6419850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777777"/>
                </a:solidFill>
              </a:defRPr>
            </a:defPPr>
          </a:lstStyle>
          <a:p xmlns:a="http://schemas.openxmlformats.org/drawingml/2006/main">
            <a:pPr>
              <a:buNone/>
              <a:defRPr sz="1200" b="0">
                <a:solidFill>
                  <a:srgbClr val="777777"/>
                </a:solidFill>
              </a:defRPr>
            </a:pPr>
            <a:r>
              <a:rPr sz="1200" b="0">
                <a:solidFill>
                  <a:srgbClr val="777777"/>
                </a:solidFill>
              </a:rPr>
              <a:t>8</a:t>
            </a:r>
          </a:p>
        </p:txBody>
      </p:sp>
    </p:spTree>
    <p:extLst>
      <p:ext uri="{BB962C8B-B14F-4D97-AF65-F5344CB8AC3E}">
        <p14:creationId xmlns:p14="http://schemas.microsoft.com/office/powerpoint/2010/main" val="312323616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0B75B49-C25F-4EFA-B1E5-38D9386C7C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81000"/>
            <a:ext cx="110490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850" b="1">
                <a:solidFill>
                  <a:srgbClr val="203864"/>
                </a:solidFill>
              </a:defRPr>
            </a:defPPr>
          </a:lstStyle>
          <a:p xmlns:a="http://schemas.openxmlformats.org/drawingml/2006/main">
            <a:pPr>
              <a:buNone/>
              <a:defRPr sz="2850" b="1">
                <a:solidFill>
                  <a:srgbClr val="203864"/>
                </a:solidFill>
              </a:defRPr>
            </a:pPr>
            <a:r>
              <a:rPr sz="2850" b="1">
                <a:solidFill>
                  <a:srgbClr val="203864"/>
                </a:solidFill>
              </a:rPr>
              <a:t>KPI cards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F039009-E270-47C8-89E0-F4777BE767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238250"/>
            <a:ext cx="11049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1">
                <a:solidFill>
                  <a:srgbClr val="4472C4"/>
                </a:solidFill>
              </a:defRPr>
            </a:defPPr>
          </a:lstStyle>
          <a:p xmlns:a="http://schemas.openxmlformats.org/drawingml/2006/main">
            <a:pPr>
              <a:buNone/>
              <a:defRPr sz="1800" b="1">
                <a:solidFill>
                  <a:srgbClr val="4472C4"/>
                </a:solidFill>
              </a:defRPr>
            </a:pPr>
            <a:r>
              <a:rPr sz="1800" b="1">
                <a:solidFill>
                  <a:srgbClr val="4472C4"/>
                </a:solidFill>
              </a:rPr>
              <a:t/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1B3E2B4-81A5-45FB-AB3A-A586B0F97C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809750"/>
            <a:ext cx="10858500" cy="419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0">
                <a:solidFill>
                  <a:srgbClr val="333333"/>
                </a:solidFill>
              </a:defRPr>
            </a:defPPr>
          </a:lstStyle>
          <a:p xmlns:a="http://schemas.openxmlformats.org/drawingml/2006/main">
            <a:pPr>
              <a:buNone/>
              <a:defRPr sz="2100" b="0">
                <a:solidFill>
                  <a:srgbClr val="333333"/>
                </a:solidFill>
              </a:defRPr>
            </a:pPr>
            <a:r>
              <a:rPr sz="2100" b="0">
                <a:solidFill>
                  <a:srgbClr val="333333"/>
                </a:solidFill>
              </a:rPr>
              <a:t>1. Add a Card visual for Total Customers.</a:t>
            </a:r>
          </a:p>
          <a:p xmlns:a="http://schemas.openxmlformats.org/drawingml/2006/main">
            <a:pPr>
              <a:buNone/>
              <a:defRPr sz="2100" b="0">
                <a:solidFill>
                  <a:srgbClr val="333333"/>
                </a:solidFill>
              </a:defRPr>
            </a:pPr>
            <a:r>
              <a:rPr sz="2100" b="0">
                <a:solidFill>
                  <a:srgbClr val="333333"/>
                </a:solidFill>
              </a:rPr>
              <a:t>2. Repeat for Churned Customers, Churn Rate and Average Satisfaction.</a:t>
            </a:r>
          </a:p>
          <a:p xmlns:a="http://schemas.openxmlformats.org/drawingml/2006/main">
            <a:pPr>
              <a:buNone/>
              <a:defRPr sz="2100" b="0">
                <a:solidFill>
                  <a:srgbClr val="333333"/>
                </a:solidFill>
              </a:defRPr>
            </a:pPr>
            <a:r>
              <a:rPr sz="2100" b="0">
                <a:solidFill>
                  <a:srgbClr val="333333"/>
                </a:solidFill>
              </a:rPr>
              <a:t>3. Use whole numbers for counts and one decimal for the rate.</a:t>
            </a:r>
          </a:p>
          <a:p xmlns:a="http://schemas.openxmlformats.org/drawingml/2006/main">
            <a:pPr>
              <a:buNone/>
              <a:defRPr sz="2100" b="0">
                <a:solidFill>
                  <a:srgbClr val="333333"/>
                </a:solidFill>
              </a:defRPr>
            </a:pPr>
            <a:r>
              <a:rPr sz="2100" b="0">
                <a:solidFill>
                  <a:srgbClr val="333333"/>
                </a:solidFill>
              </a:rPr>
              <a:t>4. Set descriptive titles and align the cards across the top.</a:t>
            </a:r>
          </a:p>
          <a:p xmlns:a="http://schemas.openxmlformats.org/drawingml/2006/main">
            <a:pPr>
              <a:buNone/>
              <a:defRPr sz="2100" b="0">
                <a:solidFill>
                  <a:srgbClr val="333333"/>
                </a:solidFill>
              </a:defRPr>
            </a:pPr>
            <a:r>
              <a:rPr sz="2100" b="0">
                <a:solidFill>
                  <a:srgbClr val="333333"/>
                </a:solidFill>
              </a:rPr>
              <a:t>5. Keep the Churn filter cleared when showing the overall churn rate.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buNone/>
              <a:defRPr sz="2100" b="0">
                <a:solidFill>
                  <a:srgbClr val="333333"/>
                </a:solidFill>
              </a:defRPr>
            </a:pPr>
            <a:r>
              <a:rPr sz="2100" b="0">
                <a:solidFill>
                  <a:srgbClr val="333333"/>
                </a:solidFill>
              </a:rPr>
              <a:t>Sales Overview can use Total Sales, Total Orders and Total Customers.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5EB00A4-088F-4364-8433-25DF4299AE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6419850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777777"/>
                </a:solidFill>
              </a:defRPr>
            </a:defPPr>
          </a:lstStyle>
          <a:p xmlns:a="http://schemas.openxmlformats.org/drawingml/2006/main">
            <a:pPr>
              <a:buNone/>
              <a:defRPr sz="1200" b="0">
                <a:solidFill>
                  <a:srgbClr val="777777"/>
                </a:solidFill>
              </a:defRPr>
            </a:pPr>
            <a:r>
              <a:rPr sz="1200" b="0">
                <a:solidFill>
                  <a:srgbClr val="777777"/>
                </a:solidFill>
              </a:rPr>
              <a:t>9</a:t>
            </a:r>
          </a:p>
        </p:txBody>
      </p:sp>
    </p:spTree>
    <p:extLst>
      <p:ext uri="{BB962C8B-B14F-4D97-AF65-F5344CB8AC3E}">
        <p14:creationId xmlns:p14="http://schemas.microsoft.com/office/powerpoint/2010/main" val="147088212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309C0B1-51AB-4B7B-8CC1-E463FD9463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81000"/>
            <a:ext cx="110490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850" b="1">
                <a:solidFill>
                  <a:srgbClr val="203864"/>
                </a:solidFill>
              </a:defRPr>
            </a:defPPr>
          </a:lstStyle>
          <a:p xmlns:a="http://schemas.openxmlformats.org/drawingml/2006/main">
            <a:pPr>
              <a:buNone/>
              <a:defRPr sz="2850" b="1">
                <a:solidFill>
                  <a:srgbClr val="203864"/>
                </a:solidFill>
              </a:defRPr>
            </a:pPr>
            <a:r>
              <a:rPr sz="2850" b="1">
                <a:solidFill>
                  <a:srgbClr val="203864"/>
                </a:solidFill>
              </a:rPr>
              <a:t>The two report pages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0D12C91-0959-49E2-AD7D-3CED35CF75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238250"/>
            <a:ext cx="11049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1">
                <a:solidFill>
                  <a:srgbClr val="4472C4"/>
                </a:solidFill>
              </a:defRPr>
            </a:defPPr>
          </a:lstStyle>
          <a:p xmlns:a="http://schemas.openxmlformats.org/drawingml/2006/main">
            <a:pPr>
              <a:buNone/>
              <a:defRPr sz="1800" b="1">
                <a:solidFill>
                  <a:srgbClr val="4472C4"/>
                </a:solidFill>
              </a:defRPr>
            </a:pPr>
            <a:r>
              <a:rPr sz="1800" b="1">
                <a:solidFill>
                  <a:srgbClr val="4472C4"/>
                </a:solidFill>
              </a:rPr>
              <a:t/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2C6E5A2-6862-45B5-BE08-4B4BF8DAF4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809750"/>
            <a:ext cx="10858500" cy="419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0">
                <a:solidFill>
                  <a:srgbClr val="333333"/>
                </a:solidFill>
              </a:defRPr>
            </a:defPPr>
          </a:lstStyle>
          <a:p xmlns:a="http://schemas.openxmlformats.org/drawingml/2006/main">
            <a:pPr>
              <a:buNone/>
              <a:defRPr sz="2100" b="0">
                <a:solidFill>
                  <a:srgbClr val="333333"/>
                </a:solidFill>
              </a:defRPr>
            </a:pPr>
            <a:r>
              <a:rPr sz="2100" b="0">
                <a:solidFill>
                  <a:srgbClr val="333333"/>
                </a:solidFill>
              </a:rPr>
              <a:t>Sales page</a:t>
            </a:r>
          </a:p>
          <a:p xmlns:a="http://schemas.openxmlformats.org/drawingml/2006/main">
            <a:pPr>
              <a:defRPr sz="2100">
                <a:solidFill>
                  <a:srgbClr val="333333"/>
                </a:solidFill>
              </a:defRPr>
            </a:pPr>
            <a:r>
              <a:rPr sz="2100">
                <a:solidFill>
                  <a:srgbClr val="333333"/>
                </a:solidFill>
              </a:rPr>
              <a:t>Sales cards, sales by product, orders by product and sales by city. City and customer type slicers filter the page.</a:t>
            </a:r>
          </a:p>
          <a:p xmlns:a="http://schemas.openxmlformats.org/drawingml/2006/main">
            <a:pPr>
              <a:buNone/>
              <a:defRPr sz="2175" b="0">
                <a:solidFill>
                  <a:srgbClr val="333333"/>
                </a:solidFill>
              </a:defRPr>
            </a:pPr>
            <a:r>
              <a:rPr sz="2175" b="0">
                <a:solidFill>
                  <a:srgbClr val="333333"/>
                </a:solidFill>
              </a:rPr>
              <a:t/>
            </a:r>
          </a:p>
          <a:p xmlns:a="http://schemas.openxmlformats.org/drawingml/2006/main">
            <a:pPr>
              <a:defRPr sz="2100">
                <a:solidFill>
                  <a:srgbClr val="333333"/>
                </a:solidFill>
              </a:defRPr>
            </a:pPr>
            <a:r>
              <a:rPr sz="2100">
                <a:solidFill>
                  <a:srgbClr val="333333"/>
                </a:solidFill>
              </a:rPr>
              <a:t>Churn page</a:t>
            </a:r>
          </a:p>
          <a:p xmlns:a="http://schemas.openxmlformats.org/drawingml/2006/main">
            <a:pPr>
              <a:buNone/>
              <a:defRPr sz="2100" b="0">
                <a:solidFill>
                  <a:srgbClr val="333333"/>
                </a:solidFill>
              </a:defRPr>
            </a:pPr>
            <a:r>
              <a:rPr sz="2100" b="0">
                <a:solidFill>
                  <a:srgbClr val="333333"/>
                </a:solidFill>
              </a:rPr>
              <a:t>Customer comparisons by gender, customer type, satisfaction and support calls. City and gender slicers filter the page.</a:t>
            </a:r>
          </a:p>
          <a:p xmlns:a="http://schemas.openxmlformats.org/drawingml/2006/main">
            <a:pPr>
              <a:buNone/>
              <a:defRPr sz="2175" b="0">
                <a:solidFill>
                  <a:srgbClr val="333333"/>
                </a:solidFill>
              </a:defRPr>
            </a:pPr>
            <a:r>
              <a:rPr sz="2175" b="0">
                <a:solidFill>
                  <a:srgbClr val="333333"/>
                </a:solidFill>
              </a:rPr>
              <a:t/>
            </a:r>
          </a:p>
          <a:p xmlns:a="http://schemas.openxmlformats.org/drawingml/2006/main">
            <a:pPr>
              <a:buNone/>
              <a:defRPr sz="2100" b="0">
                <a:solidFill>
                  <a:srgbClr val="333333"/>
                </a:solidFill>
              </a:defRPr>
            </a:pPr>
            <a:r>
              <a:rPr sz="2100" b="0">
                <a:solidFill>
                  <a:srgbClr val="333333"/>
                </a:solidFill>
              </a:rPr>
              <a:t>Clear the saved selections to view all 500 customers.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9C2D634-45B9-4C08-A824-A1AAB1FC2B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6419850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777777"/>
                </a:solidFill>
              </a:defRPr>
            </a:defPPr>
          </a:lstStyle>
          <a:p xmlns:a="http://schemas.openxmlformats.org/drawingml/2006/main">
            <a:pPr>
              <a:buNone/>
              <a:defRPr sz="1200" b="0">
                <a:solidFill>
                  <a:srgbClr val="777777"/>
                </a:solidFill>
              </a:defRPr>
            </a:pPr>
            <a:r>
              <a:rPr sz="1200" b="0">
                <a:solidFill>
                  <a:srgbClr val="777777"/>
                </a:solidFill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1779458271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A5C83A9-C11A-40B2-8C71-4158CD1773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81000"/>
            <a:ext cx="110490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850" b="1">
                <a:solidFill>
                  <a:srgbClr val="203864"/>
                </a:solidFill>
              </a:defRPr>
            </a:defPPr>
          </a:lstStyle>
          <a:p xmlns:a="http://schemas.openxmlformats.org/drawingml/2006/main">
            <a:pPr>
              <a:buNone/>
              <a:defRPr sz="2850" b="1">
                <a:solidFill>
                  <a:srgbClr val="203864"/>
                </a:solidFill>
              </a:defRPr>
            </a:pPr>
            <a:r>
              <a:rPr sz="2850" b="1">
                <a:solidFill>
                  <a:srgbClr val="203864"/>
                </a:solidFill>
              </a:rPr>
              <a:t>Product sales donut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BBD4F9F-A123-4C22-A253-F43AE53B60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238250"/>
            <a:ext cx="11049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1">
                <a:solidFill>
                  <a:srgbClr val="4472C4"/>
                </a:solidFill>
              </a:defRPr>
            </a:defPPr>
          </a:lstStyle>
          <a:p xmlns:a="http://schemas.openxmlformats.org/drawingml/2006/main">
            <a:pPr>
              <a:buNone/>
              <a:defRPr sz="1800" b="1">
                <a:solidFill>
                  <a:srgbClr val="4472C4"/>
                </a:solidFill>
              </a:defRPr>
            </a:pPr>
            <a:r>
              <a:rPr sz="1800" b="1">
                <a:solidFill>
                  <a:srgbClr val="4472C4"/>
                </a:solidFill>
              </a:rPr>
              <a:t/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304720C-8E46-46BB-B9F6-83FC751A1F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809750"/>
            <a:ext cx="10858500" cy="419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0">
                <a:solidFill>
                  <a:srgbClr val="333333"/>
                </a:solidFill>
              </a:defRPr>
            </a:defPPr>
          </a:lstStyle>
          <a:p xmlns:a="http://schemas.openxmlformats.org/drawingml/2006/main">
            <a:pPr>
              <a:buNone/>
              <a:defRPr sz="2100" b="0">
                <a:solidFill>
                  <a:srgbClr val="333333"/>
                </a:solidFill>
              </a:defRPr>
            </a:pPr>
            <a:r>
              <a:rPr sz="2100" b="0">
                <a:solidFill>
                  <a:srgbClr val="333333"/>
                </a:solidFill>
              </a:rPr>
              <a:t>1. Select a Donut chart.</a:t>
            </a:r>
          </a:p>
          <a:p xmlns:a="http://schemas.openxmlformats.org/drawingml/2006/main">
            <a:pPr>
              <a:buNone/>
              <a:defRPr sz="2100" b="0">
                <a:solidFill>
                  <a:srgbClr val="333333"/>
                </a:solidFill>
              </a:defRPr>
            </a:pPr>
            <a:r>
              <a:rPr sz="2100" b="0">
                <a:solidFill>
                  <a:srgbClr val="333333"/>
                </a:solidFill>
              </a:rPr>
              <a:t>2. Drag Product to Legend.</a:t>
            </a:r>
          </a:p>
          <a:p xmlns:a="http://schemas.openxmlformats.org/drawingml/2006/main">
            <a:pPr>
              <a:buNone/>
              <a:defRPr sz="2100" b="0">
                <a:solidFill>
                  <a:srgbClr val="333333"/>
                </a:solidFill>
              </a:defRPr>
            </a:pPr>
            <a:r>
              <a:rPr sz="2100" b="0">
                <a:solidFill>
                  <a:srgbClr val="333333"/>
                </a:solidFill>
              </a:rPr>
              <a:t>3. Drag Sales to Values and select Sum.</a:t>
            </a:r>
          </a:p>
          <a:p xmlns:a="http://schemas.openxmlformats.org/drawingml/2006/main">
            <a:pPr>
              <a:buNone/>
              <a:defRPr sz="2100" b="0">
                <a:solidFill>
                  <a:srgbClr val="333333"/>
                </a:solidFill>
              </a:defRPr>
            </a:pPr>
            <a:r>
              <a:rPr sz="2100" b="0">
                <a:solidFill>
                  <a:srgbClr val="333333"/>
                </a:solidFill>
              </a:rPr>
              <a:t>4. Add the title Sales by Product.</a:t>
            </a:r>
          </a:p>
          <a:p xmlns:a="http://schemas.openxmlformats.org/drawingml/2006/main">
            <a:pPr>
              <a:buNone/>
              <a:defRPr sz="2100" b="0">
                <a:solidFill>
                  <a:srgbClr val="333333"/>
                </a:solidFill>
              </a:defRPr>
            </a:pPr>
            <a:r>
              <a:rPr sz="2100" b="0">
                <a:solidFill>
                  <a:srgbClr val="333333"/>
                </a:solidFill>
              </a:rPr>
              <a:t>5. Hover over a slice to see its sales total.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buNone/>
              <a:defRPr sz="2100" b="0">
                <a:solidFill>
                  <a:srgbClr val="333333"/>
                </a:solidFill>
              </a:defRPr>
            </a:pPr>
            <a:r>
              <a:rPr sz="2100" b="0">
                <a:solidFill>
                  <a:srgbClr val="333333"/>
                </a:solidFill>
              </a:rPr>
              <a:t>The workbook has 20 products. A bar chart makes the full comparison easier to read, which is why the following slides use bar charts.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27F709A-6279-4D75-9B4B-0B814D8A7F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6419850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777777"/>
                </a:solidFill>
              </a:defRPr>
            </a:defPPr>
          </a:lstStyle>
          <a:p xmlns:a="http://schemas.openxmlformats.org/drawingml/2006/main">
            <a:pPr>
              <a:buNone/>
              <a:defRPr sz="1200" b="0">
                <a:solidFill>
                  <a:srgbClr val="777777"/>
                </a:solidFill>
              </a:defRPr>
            </a:pPr>
            <a:r>
              <a:rPr sz="1200" b="0">
                <a:solidFill>
                  <a:srgbClr val="777777"/>
                </a:solidFill>
              </a:rPr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325510371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3143216-7B92-4CBF-9021-4BCE2FBAD8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81000"/>
            <a:ext cx="110490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850" b="1">
                <a:solidFill>
                  <a:srgbClr val="203864"/>
                </a:solidFill>
              </a:defRPr>
            </a:defPPr>
          </a:lstStyle>
          <a:p xmlns:a="http://schemas.openxmlformats.org/drawingml/2006/main">
            <a:pPr>
              <a:buNone/>
              <a:defRPr sz="2850" b="1">
                <a:solidFill>
                  <a:srgbClr val="203864"/>
                </a:solidFill>
              </a:defRPr>
            </a:pPr>
            <a:r>
              <a:rPr sz="2850" b="1">
                <a:solidFill>
                  <a:srgbClr val="203864"/>
                </a:solidFill>
              </a:rPr>
              <a:t>Sales by product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5CC09F6-F171-4E09-B58B-B27CC9865B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238250"/>
            <a:ext cx="11049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1">
                <a:solidFill>
                  <a:srgbClr val="4472C4"/>
                </a:solidFill>
              </a:defRPr>
            </a:defPPr>
          </a:lstStyle>
          <a:p xmlns:a="http://schemas.openxmlformats.org/drawingml/2006/main">
            <a:pPr>
              <a:buNone/>
              <a:defRPr sz="1800" b="1">
                <a:solidFill>
                  <a:srgbClr val="4472C4"/>
                </a:solidFill>
              </a:defRPr>
            </a:pPr>
            <a:r>
              <a:rPr sz="1800" b="1">
                <a:solidFill>
                  <a:srgbClr val="4472C4"/>
                </a:solidFill>
              </a:rPr>
              <a:t/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9622D81-CF13-488A-A4DA-13268B2B91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857375"/>
            <a:ext cx="4762500" cy="3476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0">
                <a:solidFill>
                  <a:srgbClr val="333333"/>
                </a:solidFill>
              </a:defRPr>
            </a:defPPr>
          </a:lstStyle>
          <a:p xmlns:a="http://schemas.openxmlformats.org/drawingml/2006/main">
            <a:pPr>
              <a:buNone/>
              <a:defRPr sz="2025" b="0">
                <a:solidFill>
                  <a:srgbClr val="333333"/>
                </a:solidFill>
              </a:defRPr>
            </a:pPr>
            <a:r>
              <a:rPr sz="2025" b="0">
                <a:solidFill>
                  <a:srgbClr val="333333"/>
                </a:solidFill>
              </a:rPr>
              <a:t>1. Put Product on the Y-axis.</a:t>
            </a:r>
          </a:p>
          <a:p xmlns:a="http://schemas.openxmlformats.org/drawingml/2006/main">
            <a:pPr>
              <a:buNone/>
              <a:defRPr sz="2025" b="0">
                <a:solidFill>
                  <a:srgbClr val="333333"/>
                </a:solidFill>
              </a:defRPr>
            </a:pPr>
            <a:r>
              <a:rPr sz="2025" b="0">
                <a:solidFill>
                  <a:srgbClr val="333333"/>
                </a:solidFill>
              </a:rPr>
              <a:t>2. Put [Total Sales] on the X-axis.</a:t>
            </a:r>
          </a:p>
          <a:p xmlns:a="http://schemas.openxmlformats.org/drawingml/2006/main">
            <a:pPr>
              <a:buNone/>
              <a:defRPr sz="2025" b="0">
                <a:solidFill>
                  <a:srgbClr val="333333"/>
                </a:solidFill>
              </a:defRPr>
            </a:pPr>
            <a:r>
              <a:rPr sz="2025" b="0">
                <a:solidFill>
                  <a:srgbClr val="333333"/>
                </a:solidFill>
              </a:rPr>
              <a:t>3. In visual filters, use Product &gt; Top N &gt; Top 5, by [Total Sales].</a:t>
            </a:r>
          </a:p>
          <a:p xmlns:a="http://schemas.openxmlformats.org/drawingml/2006/main">
            <a:pPr>
              <a:buNone/>
              <a:defRPr sz="2025" b="0">
                <a:solidFill>
                  <a:srgbClr val="333333"/>
                </a:solidFill>
              </a:defRPr>
            </a:pPr>
            <a:r>
              <a:rPr sz="2025" b="0">
                <a:solidFill>
                  <a:srgbClr val="333333"/>
                </a:solidFill>
              </a:rPr>
              <a:t>4. Apply the filter and sort descending.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DB084AB-FE82-4B24-8D67-854E2B267A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5857875"/>
            <a:ext cx="10858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0">
                <a:solidFill>
                  <a:srgbClr val="333333"/>
                </a:solidFill>
              </a:defRPr>
            </a:defPPr>
          </a:lstStyle>
          <a:p xmlns:a="http://schemas.openxmlformats.org/drawingml/2006/main">
            <a:pPr>
              <a:buNone/>
              <a:defRPr sz="1650" b="0">
                <a:solidFill>
                  <a:srgbClr val="333333"/>
                </a:solidFill>
              </a:defRPr>
            </a:pPr>
            <a:r>
              <a:rPr sz="1650" b="0">
                <a:solidFill>
                  <a:srgbClr val="333333"/>
                </a:solidFill>
              </a:rPr>
              <a:t>Snacks leads these product totals with Sales of 304,567.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261C672-7DD2-4542-BD11-3FCAB38B7B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6419850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777777"/>
                </a:solidFill>
              </a:defRPr>
            </a:defPPr>
          </a:lstStyle>
          <a:p xmlns:a="http://schemas.openxmlformats.org/drawingml/2006/main">
            <a:pPr>
              <a:buNone/>
              <a:defRPr sz="1200" b="0">
                <a:solidFill>
                  <a:srgbClr val="777777"/>
                </a:solidFill>
              </a:defRPr>
            </a:pPr>
            <a:r>
              <a:rPr sz="1200" b="0">
                <a:solidFill>
                  <a:srgbClr val="777777"/>
                </a:solidFill>
              </a:rPr>
              <a:t>12</a:t>
            </a:r>
          </a:p>
        </p:txBody>
      </p:sp>
      <p:graphicFrame>
        <p:nvGraphicFramePr>
          <p:cNvPr id="8" name="Chart">
            <a:extLst xmlns:a="http://schemas.openxmlformats.org/drawingml/2006/main">
              <a:ext uri="{FF2B5EF4-FFF2-40B4-BE49-F238E27FC236}">
                <a16:creationId xmlns:a16="http://schemas.microsoft.com/office/drawing/2014/main" id="{2AE33BA9-EE90-4AD7-AECF-4051BF1560D5}"/>
              </a:ext>
            </a:extLst>
          </p:cNvPr>
          <p:cNvGraphicFramePr/>
          <p:nvPr/>
        </p:nvGraphicFramePr>
        <p:xfrm>
          <a:off xmlns:a="http://schemas.openxmlformats.org/drawingml/2006/main" x="5810250" y="1762125"/>
          <a:ext xmlns:a="http://schemas.openxmlformats.org/drawingml/2006/main" cx="5715000" cy="40005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302b69e4fc414e58"/>
          </a:graphicData>
        </a:graphic>
      </p:graphicFrame>
    </p:spTree>
    <p:extLst>
      <p:ext uri="{BB962C8B-B14F-4D97-AF65-F5344CB8AC3E}">
        <p14:creationId xmlns:p14="http://schemas.microsoft.com/office/powerpoint/2010/main" val="699186593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194CBFE-8846-4368-8995-58A2BD8226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81000"/>
            <a:ext cx="110490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850" b="1">
                <a:solidFill>
                  <a:srgbClr val="203864"/>
                </a:solidFill>
              </a:defRPr>
            </a:defPPr>
          </a:lstStyle>
          <a:p xmlns:a="http://schemas.openxmlformats.org/drawingml/2006/main">
            <a:pPr>
              <a:buNone/>
              <a:defRPr sz="2850" b="1">
                <a:solidFill>
                  <a:srgbClr val="203864"/>
                </a:solidFill>
              </a:defRPr>
            </a:pPr>
            <a:r>
              <a:rPr sz="2850" b="1">
                <a:solidFill>
                  <a:srgbClr val="203864"/>
                </a:solidFill>
              </a:rPr>
              <a:t>Orders by product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9D9E7F2-1426-47E9-BA23-EE5D8A3DBE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238250"/>
            <a:ext cx="11049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1">
                <a:solidFill>
                  <a:srgbClr val="4472C4"/>
                </a:solidFill>
              </a:defRPr>
            </a:defPPr>
          </a:lstStyle>
          <a:p xmlns:a="http://schemas.openxmlformats.org/drawingml/2006/main">
            <a:pPr>
              <a:buNone/>
              <a:defRPr sz="1800" b="1">
                <a:solidFill>
                  <a:srgbClr val="4472C4"/>
                </a:solidFill>
              </a:defRPr>
            </a:pPr>
            <a:r>
              <a:rPr sz="1800" b="1">
                <a:solidFill>
                  <a:srgbClr val="4472C4"/>
                </a:solidFill>
              </a:rPr>
              <a:t/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E5EA768-8327-4853-87FE-B395831659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5625" y="1857375"/>
            <a:ext cx="4619625" cy="3476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0">
                <a:solidFill>
                  <a:srgbClr val="333333"/>
                </a:solidFill>
              </a:defRPr>
            </a:defPPr>
          </a:lstStyle>
          <a:p xmlns:a="http://schemas.openxmlformats.org/drawingml/2006/main">
            <a:pPr>
              <a:buNone/>
              <a:defRPr sz="2025" b="0">
                <a:solidFill>
                  <a:srgbClr val="333333"/>
                </a:solidFill>
              </a:defRPr>
            </a:pPr>
            <a:r>
              <a:rPr sz="2025" b="0">
                <a:solidFill>
                  <a:srgbClr val="333333"/>
                </a:solidFill>
              </a:rPr>
              <a:t>1. Add a Clustered bar chart.</a:t>
            </a:r>
          </a:p>
          <a:p xmlns:a="http://schemas.openxmlformats.org/drawingml/2006/main">
            <a:pPr>
              <a:buNone/>
              <a:defRPr sz="2025" b="0">
                <a:solidFill>
                  <a:srgbClr val="333333"/>
                </a:solidFill>
              </a:defRPr>
            </a:pPr>
            <a:r>
              <a:rPr sz="2025" b="0">
                <a:solidFill>
                  <a:srgbClr val="333333"/>
                </a:solidFill>
              </a:rPr>
              <a:t>2. Y-axis: Product.</a:t>
            </a:r>
          </a:p>
          <a:p xmlns:a="http://schemas.openxmlformats.org/drawingml/2006/main">
            <a:pPr>
              <a:buNone/>
              <a:defRPr sz="2025" b="0">
                <a:solidFill>
                  <a:srgbClr val="333333"/>
                </a:solidFill>
              </a:defRPr>
            </a:pPr>
            <a:r>
              <a:rPr sz="2025" b="0">
                <a:solidFill>
                  <a:srgbClr val="333333"/>
                </a:solidFill>
              </a:rPr>
              <a:t>3. X-axis: [Total Orders].</a:t>
            </a:r>
          </a:p>
          <a:p xmlns:a="http://schemas.openxmlformats.org/drawingml/2006/main">
            <a:pPr>
              <a:buNone/>
              <a:defRPr sz="2025" b="0">
                <a:solidFill>
                  <a:srgbClr val="333333"/>
                </a:solidFill>
              </a:defRPr>
            </a:pPr>
            <a:r>
              <a:rPr sz="2025" b="0">
                <a:solidFill>
                  <a:srgbClr val="333333"/>
                </a:solidFill>
              </a:rPr>
              <a:t>4. For readability, apply Top 5 by [Total Orders].</a:t>
            </a:r>
          </a:p>
          <a:p xmlns:a="http://schemas.openxmlformats.org/drawingml/2006/main">
            <a:pPr>
              <a:buNone/>
              <a:defRPr sz="2025" b="0">
                <a:solidFill>
                  <a:srgbClr val="333333"/>
                </a:solidFill>
              </a:defRPr>
            </a:pPr>
            <a:r>
              <a:rPr sz="2025" b="0">
                <a:solidFill>
                  <a:srgbClr val="333333"/>
                </a:solidFill>
              </a:rPr>
              <a:t>5. Sort descending and enable labels.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B3F67FC-E256-46B0-AC19-7466F1E97E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5857875"/>
            <a:ext cx="10858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0">
                <a:solidFill>
                  <a:srgbClr val="333333"/>
                </a:solidFill>
              </a:defRPr>
            </a:defPPr>
          </a:lstStyle>
          <a:p xmlns:a="http://schemas.openxmlformats.org/drawingml/2006/main">
            <a:pPr>
              <a:buNone/>
              <a:defRPr sz="1650" b="0">
                <a:solidFill>
                  <a:srgbClr val="333333"/>
                </a:solidFill>
              </a:defRPr>
            </a:pPr>
            <a:r>
              <a:rPr sz="1650" b="0">
                <a:solidFill>
                  <a:srgbClr val="333333"/>
                </a:solidFill>
              </a:rPr>
              <a:t>Skin Care Kit has the highest Total_Orders aggregate at 355.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1A61A01-BD72-48FA-A706-5F6FD395A7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6419850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777777"/>
                </a:solidFill>
              </a:defRPr>
            </a:defPPr>
          </a:lstStyle>
          <a:p xmlns:a="http://schemas.openxmlformats.org/drawingml/2006/main">
            <a:pPr>
              <a:buNone/>
              <a:defRPr sz="1200" b="0">
                <a:solidFill>
                  <a:srgbClr val="777777"/>
                </a:solidFill>
              </a:defRPr>
            </a:pPr>
            <a:r>
              <a:rPr sz="1200" b="0">
                <a:solidFill>
                  <a:srgbClr val="777777"/>
                </a:solidFill>
              </a:rPr>
              <a:t>13</a:t>
            </a:r>
          </a:p>
        </p:txBody>
      </p:sp>
      <p:graphicFrame>
        <p:nvGraphicFramePr>
          <p:cNvPr id="8" name="Chart">
            <a:extLst xmlns:a="http://schemas.openxmlformats.org/drawingml/2006/main">
              <a:ext uri="{FF2B5EF4-FFF2-40B4-BE49-F238E27FC236}">
                <a16:creationId xmlns:a16="http://schemas.microsoft.com/office/drawing/2014/main" id="{52D36600-B18C-45E4-AD46-2C3635D44AAC}"/>
              </a:ext>
            </a:extLst>
          </p:cNvPr>
          <p:cNvGraphicFramePr/>
          <p:nvPr/>
        </p:nvGraphicFramePr>
        <p:xfrm>
          <a:off xmlns:a="http://schemas.openxmlformats.org/drawingml/2006/main" x="619125" y="1762125"/>
          <a:ext xmlns:a="http://schemas.openxmlformats.org/drawingml/2006/main" cx="5810250" cy="40005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fc9dc45e63914c5e"/>
          </a:graphicData>
        </a:graphic>
      </p:graphicFrame>
    </p:spTree>
    <p:extLst>
      <p:ext uri="{BB962C8B-B14F-4D97-AF65-F5344CB8AC3E}">
        <p14:creationId xmlns:p14="http://schemas.microsoft.com/office/powerpoint/2010/main" val="1490979779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95D08FF-310C-46F1-A4F2-A84FC107C1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81000"/>
            <a:ext cx="110490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850" b="1">
                <a:solidFill>
                  <a:srgbClr val="203864"/>
                </a:solidFill>
              </a:defRPr>
            </a:defPPr>
          </a:lstStyle>
          <a:p xmlns:a="http://schemas.openxmlformats.org/drawingml/2006/main">
            <a:pPr>
              <a:buNone/>
              <a:defRPr sz="2850" b="1">
                <a:solidFill>
                  <a:srgbClr val="203864"/>
                </a:solidFill>
              </a:defRPr>
            </a:pPr>
            <a:r>
              <a:rPr sz="2850" b="1">
                <a:solidFill>
                  <a:srgbClr val="203864"/>
                </a:solidFill>
              </a:rPr>
              <a:t>Sales by city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2F11C1B-5456-499D-9E82-11CCD38A3D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238250"/>
            <a:ext cx="11049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1">
                <a:solidFill>
                  <a:srgbClr val="4472C4"/>
                </a:solidFill>
              </a:defRPr>
            </a:defPPr>
          </a:lstStyle>
          <a:p xmlns:a="http://schemas.openxmlformats.org/drawingml/2006/main">
            <a:pPr>
              <a:buNone/>
              <a:defRPr sz="1800" b="1">
                <a:solidFill>
                  <a:srgbClr val="4472C4"/>
                </a:solidFill>
              </a:defRPr>
            </a:pPr>
            <a:r>
              <a:rPr sz="1800" b="1">
                <a:solidFill>
                  <a:srgbClr val="4472C4"/>
                </a:solidFill>
              </a:rPr>
              <a:t/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81A7B0C-84B2-45E5-9676-16EED64F19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857375"/>
            <a:ext cx="4762500" cy="3476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0">
                <a:solidFill>
                  <a:srgbClr val="333333"/>
                </a:solidFill>
              </a:defRPr>
            </a:defPPr>
          </a:lstStyle>
          <a:p xmlns:a="http://schemas.openxmlformats.org/drawingml/2006/main">
            <a:pPr>
              <a:buNone/>
              <a:defRPr sz="2025" b="0">
                <a:solidFill>
                  <a:srgbClr val="333333"/>
                </a:solidFill>
              </a:defRPr>
            </a:pPr>
            <a:r>
              <a:rPr sz="2025" b="0">
                <a:solidFill>
                  <a:srgbClr val="333333"/>
                </a:solidFill>
              </a:rPr>
              <a:t>1. Add a Clustered bar chart.</a:t>
            </a:r>
          </a:p>
          <a:p xmlns:a="http://schemas.openxmlformats.org/drawingml/2006/main">
            <a:pPr>
              <a:buNone/>
              <a:defRPr sz="2025" b="0">
                <a:solidFill>
                  <a:srgbClr val="333333"/>
                </a:solidFill>
              </a:defRPr>
            </a:pPr>
            <a:r>
              <a:rPr sz="2025" b="0">
                <a:solidFill>
                  <a:srgbClr val="333333"/>
                </a:solidFill>
              </a:rPr>
              <a:t>2. Y-axis: City.</a:t>
            </a:r>
          </a:p>
          <a:p xmlns:a="http://schemas.openxmlformats.org/drawingml/2006/main">
            <a:pPr>
              <a:buNone/>
              <a:defRPr sz="2025" b="0">
                <a:solidFill>
                  <a:srgbClr val="333333"/>
                </a:solidFill>
              </a:defRPr>
            </a:pPr>
            <a:r>
              <a:rPr sz="2025" b="0">
                <a:solidFill>
                  <a:srgbClr val="333333"/>
                </a:solidFill>
              </a:rPr>
              <a:t>3. X-axis: [Total Sales].</a:t>
            </a:r>
          </a:p>
          <a:p xmlns:a="http://schemas.openxmlformats.org/drawingml/2006/main">
            <a:pPr>
              <a:buNone/>
              <a:defRPr sz="2025" b="0">
                <a:solidFill>
                  <a:srgbClr val="333333"/>
                </a:solidFill>
              </a:defRPr>
            </a:pPr>
            <a:r>
              <a:rPr sz="2025" b="0">
                <a:solidFill>
                  <a:srgbClr val="333333"/>
                </a:solidFill>
              </a:rPr>
              <a:t>4. Sort by Total Sales, descending.</a:t>
            </a:r>
          </a:p>
          <a:p xmlns:a="http://schemas.openxmlformats.org/drawingml/2006/main">
            <a:pPr>
              <a:buNone/>
              <a:defRPr sz="2025" b="0">
                <a:solidFill>
                  <a:srgbClr val="333333"/>
                </a:solidFill>
              </a:defRPr>
            </a:pPr>
            <a:r>
              <a:rPr sz="2025" b="0">
                <a:solidFill>
                  <a:srgbClr val="333333"/>
                </a:solidFill>
              </a:rPr>
              <a:t>5. Enable labels and use the title Sales by City.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85285D8-F42D-44AE-9F92-D3B87DB493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5857875"/>
            <a:ext cx="10858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0">
                <a:solidFill>
                  <a:srgbClr val="333333"/>
                </a:solidFill>
              </a:defRPr>
            </a:defPPr>
          </a:lstStyle>
          <a:p xmlns:a="http://schemas.openxmlformats.org/drawingml/2006/main">
            <a:pPr>
              <a:buNone/>
              <a:defRPr sz="1650" b="0">
                <a:solidFill>
                  <a:srgbClr val="333333"/>
                </a:solidFill>
              </a:defRPr>
            </a:pPr>
            <a:r>
              <a:rPr sz="1650" b="0">
                <a:solidFill>
                  <a:srgbClr val="333333"/>
                </a:solidFill>
              </a:rPr>
              <a:t>Kanpur has the largest city sales total: 565,950.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160E918-1820-4A74-B86C-27979D7534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6419850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777777"/>
                </a:solidFill>
              </a:defRPr>
            </a:defPPr>
          </a:lstStyle>
          <a:p xmlns:a="http://schemas.openxmlformats.org/drawingml/2006/main">
            <a:pPr>
              <a:buNone/>
              <a:defRPr sz="1200" b="0">
                <a:solidFill>
                  <a:srgbClr val="777777"/>
                </a:solidFill>
              </a:defRPr>
            </a:pPr>
            <a:r>
              <a:rPr sz="1200" b="0">
                <a:solidFill>
                  <a:srgbClr val="777777"/>
                </a:solidFill>
              </a:rPr>
              <a:t>14</a:t>
            </a:r>
          </a:p>
        </p:txBody>
      </p:sp>
      <p:graphicFrame>
        <p:nvGraphicFramePr>
          <p:cNvPr id="8" name="Chart">
            <a:extLst xmlns:a="http://schemas.openxmlformats.org/drawingml/2006/main">
              <a:ext uri="{FF2B5EF4-FFF2-40B4-BE49-F238E27FC236}">
                <a16:creationId xmlns:a16="http://schemas.microsoft.com/office/drawing/2014/main" id="{FB7C8469-0C4B-4402-ADE0-07123389560E}"/>
              </a:ext>
            </a:extLst>
          </p:cNvPr>
          <p:cNvGraphicFramePr/>
          <p:nvPr/>
        </p:nvGraphicFramePr>
        <p:xfrm>
          <a:off xmlns:a="http://schemas.openxmlformats.org/drawingml/2006/main" x="5810250" y="1762125"/>
          <a:ext xmlns:a="http://schemas.openxmlformats.org/drawingml/2006/main" cx="5715000" cy="40005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188984bea4f84ff8"/>
          </a:graphicData>
        </a:graphic>
      </p:graphicFrame>
    </p:spTree>
    <p:extLst>
      <p:ext uri="{BB962C8B-B14F-4D97-AF65-F5344CB8AC3E}">
        <p14:creationId xmlns:p14="http://schemas.microsoft.com/office/powerpoint/2010/main" val="133654508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828D9C8-8153-422F-984C-6E3815D7F9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81000"/>
            <a:ext cx="110490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850" b="1">
                <a:solidFill>
                  <a:srgbClr val="203864"/>
                </a:solidFill>
              </a:defRPr>
            </a:defPPr>
          </a:lstStyle>
          <a:p xmlns:a="http://schemas.openxmlformats.org/drawingml/2006/main">
            <a:pPr>
              <a:buNone/>
              <a:defRPr sz="2850" b="1">
                <a:solidFill>
                  <a:srgbClr val="203864"/>
                </a:solidFill>
              </a:defRPr>
            </a:pPr>
            <a:r>
              <a:rPr sz="2850" b="1">
                <a:solidFill>
                  <a:srgbClr val="203864"/>
                </a:solidFill>
              </a:rPr>
              <a:t>Churn by customer type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924D178-480D-4273-B3A9-4492D4A33F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238250"/>
            <a:ext cx="11049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1">
                <a:solidFill>
                  <a:srgbClr val="4472C4"/>
                </a:solidFill>
              </a:defRPr>
            </a:defPPr>
          </a:lstStyle>
          <a:p xmlns:a="http://schemas.openxmlformats.org/drawingml/2006/main">
            <a:pPr>
              <a:buNone/>
              <a:defRPr sz="1800" b="1">
                <a:solidFill>
                  <a:srgbClr val="4472C4"/>
                </a:solidFill>
              </a:defRPr>
            </a:pPr>
            <a:r>
              <a:rPr sz="1800" b="1">
                <a:solidFill>
                  <a:srgbClr val="4472C4"/>
                </a:solidFill>
              </a:rPr>
              <a:t/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CCC9FA3-F5CA-4F72-85F9-9429638EED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5625" y="1857375"/>
            <a:ext cx="4619625" cy="3476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0">
                <a:solidFill>
                  <a:srgbClr val="333333"/>
                </a:solidFill>
              </a:defRPr>
            </a:defPPr>
          </a:lstStyle>
          <a:p xmlns:a="http://schemas.openxmlformats.org/drawingml/2006/main">
            <a:pPr>
              <a:buNone/>
              <a:defRPr sz="2025" b="0">
                <a:solidFill>
                  <a:srgbClr val="333333"/>
                </a:solidFill>
              </a:defRPr>
            </a:pPr>
            <a:r>
              <a:rPr sz="2025" b="0">
                <a:solidFill>
                  <a:srgbClr val="333333"/>
                </a:solidFill>
              </a:rPr>
              <a:t>1. Add a Donut chart.</a:t>
            </a:r>
          </a:p>
          <a:p xmlns:a="http://schemas.openxmlformats.org/drawingml/2006/main">
            <a:pPr>
              <a:buNone/>
              <a:defRPr sz="2025" b="0">
                <a:solidFill>
                  <a:srgbClr val="333333"/>
                </a:solidFill>
              </a:defRPr>
            </a:pPr>
            <a:r>
              <a:rPr sz="2025" b="0">
                <a:solidFill>
                  <a:srgbClr val="333333"/>
                </a:solidFill>
              </a:rPr>
              <a:t>2. Legend: Customer_Type.</a:t>
            </a:r>
          </a:p>
          <a:p xmlns:a="http://schemas.openxmlformats.org/drawingml/2006/main">
            <a:pPr>
              <a:buNone/>
              <a:defRPr sz="2025" b="0">
                <a:solidFill>
                  <a:srgbClr val="333333"/>
                </a:solidFill>
              </a:defRPr>
            </a:pPr>
            <a:r>
              <a:rPr sz="2025" b="0">
                <a:solidFill>
                  <a:srgbClr val="333333"/>
                </a:solidFill>
              </a:rPr>
              <a:t>3. Values: [Total Customers].</a:t>
            </a:r>
          </a:p>
          <a:p xmlns:a="http://schemas.openxmlformats.org/drawingml/2006/main">
            <a:pPr>
              <a:buNone/>
              <a:defRPr sz="2025" b="0">
                <a:solidFill>
                  <a:srgbClr val="333333"/>
                </a:solidFill>
              </a:defRPr>
            </a:pPr>
            <a:r>
              <a:rPr sz="2025" b="0">
                <a:solidFill>
                  <a:srgbClr val="333333"/>
                </a:solidFill>
              </a:rPr>
              <a:t>4. In Filters on this visual, set Churn to Yes.</a:t>
            </a:r>
          </a:p>
          <a:p xmlns:a="http://schemas.openxmlformats.org/drawingml/2006/main">
            <a:pPr>
              <a:buNone/>
              <a:defRPr sz="2025" b="0">
                <a:solidFill>
                  <a:srgbClr val="333333"/>
                </a:solidFill>
              </a:defRPr>
            </a:pPr>
            <a:r>
              <a:rPr sz="2025" b="0">
                <a:solidFill>
                  <a:srgbClr val="333333"/>
                </a:solidFill>
              </a:rPr>
              <a:t>5. Enable labels and percentages.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147E03F-4A9B-45DB-8088-594C3D2625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5857875"/>
            <a:ext cx="10858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0">
                <a:solidFill>
                  <a:srgbClr val="333333"/>
                </a:solidFill>
              </a:defRPr>
            </a:defPPr>
          </a:lstStyle>
          <a:p xmlns:a="http://schemas.openxmlformats.org/drawingml/2006/main">
            <a:pPr>
              <a:buNone/>
              <a:defRPr sz="1650" b="0">
                <a:solidFill>
                  <a:srgbClr val="333333"/>
                </a:solidFill>
              </a:defRPr>
            </a:pPr>
            <a:r>
              <a:rPr sz="1650" b="0">
                <a:solidFill>
                  <a:srgbClr val="333333"/>
                </a:solidFill>
              </a:rPr>
              <a:t>Of 122 churned customers, 66 are New and 56 are Returning.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F1C2485-F678-4D78-9380-82BB10597C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6419850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777777"/>
                </a:solidFill>
              </a:defRPr>
            </a:defPPr>
          </a:lstStyle>
          <a:p xmlns:a="http://schemas.openxmlformats.org/drawingml/2006/main">
            <a:pPr>
              <a:buNone/>
              <a:defRPr sz="1200" b="0">
                <a:solidFill>
                  <a:srgbClr val="777777"/>
                </a:solidFill>
              </a:defRPr>
            </a:pPr>
            <a:r>
              <a:rPr sz="1200" b="0">
                <a:solidFill>
                  <a:srgbClr val="777777"/>
                </a:solidFill>
              </a:rPr>
              <a:t>15</a:t>
            </a:r>
          </a:p>
        </p:txBody>
      </p:sp>
      <p:graphicFrame>
        <p:nvGraphicFramePr>
          <p:cNvPr id="8" name="Chart">
            <a:extLst xmlns:a="http://schemas.openxmlformats.org/drawingml/2006/main">
              <a:ext uri="{FF2B5EF4-FFF2-40B4-BE49-F238E27FC236}">
                <a16:creationId xmlns:a16="http://schemas.microsoft.com/office/drawing/2014/main" id="{3C7E87C3-C608-4FA8-8238-C8CCBB7772B9}"/>
              </a:ext>
            </a:extLst>
          </p:cNvPr>
          <p:cNvGraphicFramePr/>
          <p:nvPr/>
        </p:nvGraphicFramePr>
        <p:xfrm>
          <a:off xmlns:a="http://schemas.openxmlformats.org/drawingml/2006/main" x="619125" y="1762125"/>
          <a:ext xmlns:a="http://schemas.openxmlformats.org/drawingml/2006/main" cx="5810250" cy="40005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137e29ee8bc546bf"/>
          </a:graphicData>
        </a:graphic>
      </p:graphicFrame>
    </p:spTree>
    <p:extLst>
      <p:ext uri="{BB962C8B-B14F-4D97-AF65-F5344CB8AC3E}">
        <p14:creationId xmlns:p14="http://schemas.microsoft.com/office/powerpoint/2010/main" val="520406656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FCB6853-00BB-4C03-9806-FDFBE92EBE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81000"/>
            <a:ext cx="110490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850" b="1">
                <a:solidFill>
                  <a:srgbClr val="203864"/>
                </a:solidFill>
              </a:defRPr>
            </a:defPPr>
          </a:lstStyle>
          <a:p xmlns:a="http://schemas.openxmlformats.org/drawingml/2006/main">
            <a:pPr>
              <a:buNone/>
              <a:defRPr sz="2850" b="1">
                <a:solidFill>
                  <a:srgbClr val="203864"/>
                </a:solidFill>
              </a:defRPr>
            </a:pPr>
            <a:r>
              <a:rPr sz="2850" b="1">
                <a:solidFill>
                  <a:srgbClr val="203864"/>
                </a:solidFill>
              </a:rPr>
              <a:t>Churn by gender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D2FE0B2-ECD0-4600-9AB5-24EF3AF4B0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238250"/>
            <a:ext cx="11049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1">
                <a:solidFill>
                  <a:srgbClr val="4472C4"/>
                </a:solidFill>
              </a:defRPr>
            </a:defPPr>
          </a:lstStyle>
          <a:p xmlns:a="http://schemas.openxmlformats.org/drawingml/2006/main">
            <a:pPr>
              <a:buNone/>
              <a:defRPr sz="1800" b="1">
                <a:solidFill>
                  <a:srgbClr val="4472C4"/>
                </a:solidFill>
              </a:defRPr>
            </a:pPr>
            <a:r>
              <a:rPr sz="1800" b="1">
                <a:solidFill>
                  <a:srgbClr val="4472C4"/>
                </a:solidFill>
              </a:rPr>
              <a:t/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71E14EA-724A-4C64-A512-3614B7DDBB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857375"/>
            <a:ext cx="4762500" cy="3476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0">
                <a:solidFill>
                  <a:srgbClr val="333333"/>
                </a:solidFill>
              </a:defRPr>
            </a:defPPr>
          </a:lstStyle>
          <a:p xmlns:a="http://schemas.openxmlformats.org/drawingml/2006/main">
            <a:pPr>
              <a:buNone/>
              <a:defRPr sz="2025" b="0">
                <a:solidFill>
                  <a:srgbClr val="333333"/>
                </a:solidFill>
              </a:defRPr>
            </a:pPr>
            <a:r>
              <a:rPr sz="2025" b="0">
                <a:solidFill>
                  <a:srgbClr val="333333"/>
                </a:solidFill>
              </a:rPr>
              <a:t>1. X-axis: Gender.</a:t>
            </a:r>
          </a:p>
          <a:p xmlns:a="http://schemas.openxmlformats.org/drawingml/2006/main">
            <a:pPr>
              <a:buNone/>
              <a:defRPr sz="2025" b="0">
                <a:solidFill>
                  <a:srgbClr val="333333"/>
                </a:solidFill>
              </a:defRPr>
            </a:pPr>
            <a:r>
              <a:rPr sz="2025" b="0">
                <a:solidFill>
                  <a:srgbClr val="333333"/>
                </a:solidFill>
              </a:rPr>
              <a:t>2. Y-axis: [Total Customers].</a:t>
            </a:r>
          </a:p>
          <a:p xmlns:a="http://schemas.openxmlformats.org/drawingml/2006/main">
            <a:pPr>
              <a:buNone/>
              <a:defRPr sz="2025" b="0">
                <a:solidFill>
                  <a:srgbClr val="333333"/>
                </a:solidFill>
              </a:defRPr>
            </a:pPr>
            <a:r>
              <a:rPr sz="2025" b="0">
                <a:solidFill>
                  <a:srgbClr val="333333"/>
                </a:solidFill>
              </a:rPr>
              <a:t>3. Legend: Churn.</a:t>
            </a:r>
          </a:p>
          <a:p xmlns:a="http://schemas.openxmlformats.org/drawingml/2006/main">
            <a:pPr>
              <a:buNone/>
              <a:defRPr sz="2025" b="0">
                <a:solidFill>
                  <a:srgbClr val="333333"/>
                </a:solidFill>
              </a:defRPr>
            </a:pPr>
            <a:r>
              <a:rPr sz="2025" b="0">
                <a:solidFill>
                  <a:srgbClr val="333333"/>
                </a:solidFill>
              </a:rPr>
              <a:t>4. Use orange for Yes and blue for No.</a:t>
            </a:r>
          </a:p>
          <a:p xmlns:a="http://schemas.openxmlformats.org/drawingml/2006/main">
            <a:pPr>
              <a:buNone/>
              <a:defRPr sz="2025" b="0">
                <a:solidFill>
                  <a:srgbClr val="333333"/>
                </a:solidFill>
              </a:defRPr>
            </a:pPr>
            <a:r>
              <a:rPr sz="2025" b="0">
                <a:solidFill>
                  <a:srgbClr val="333333"/>
                </a:solidFill>
              </a:rPr>
              <a:t>5. Enable data labels.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3334434-61C3-45B6-8118-E9D6A5F5CD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5857875"/>
            <a:ext cx="10858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0">
                <a:solidFill>
                  <a:srgbClr val="333333"/>
                </a:solidFill>
              </a:defRPr>
            </a:defPPr>
          </a:lstStyle>
          <a:p xmlns:a="http://schemas.openxmlformats.org/drawingml/2006/main">
            <a:pPr>
              <a:buNone/>
              <a:defRPr sz="1650" b="0">
                <a:solidFill>
                  <a:srgbClr val="333333"/>
                </a:solidFill>
              </a:defRPr>
            </a:pPr>
            <a:r>
              <a:rPr sz="1650" b="0">
                <a:solidFill>
                  <a:srgbClr val="333333"/>
                </a:solidFill>
              </a:rPr>
              <a:t>Both genders have 61 churned customers. Rates differ: Female 22.3%, Male 26.9%.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A03CC60-5EE6-4BA8-8FCC-A6117883F0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6419850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777777"/>
                </a:solidFill>
              </a:defRPr>
            </a:defPPr>
          </a:lstStyle>
          <a:p xmlns:a="http://schemas.openxmlformats.org/drawingml/2006/main">
            <a:pPr>
              <a:buNone/>
              <a:defRPr sz="1200" b="0">
                <a:solidFill>
                  <a:srgbClr val="777777"/>
                </a:solidFill>
              </a:defRPr>
            </a:pPr>
            <a:r>
              <a:rPr sz="1200" b="0">
                <a:solidFill>
                  <a:srgbClr val="777777"/>
                </a:solidFill>
              </a:rPr>
              <a:t>16</a:t>
            </a:r>
          </a:p>
        </p:txBody>
      </p:sp>
      <p:graphicFrame>
        <p:nvGraphicFramePr>
          <p:cNvPr id="8" name="Chart">
            <a:extLst xmlns:a="http://schemas.openxmlformats.org/drawingml/2006/main">
              <a:ext uri="{FF2B5EF4-FFF2-40B4-BE49-F238E27FC236}">
                <a16:creationId xmlns:a16="http://schemas.microsoft.com/office/drawing/2014/main" id="{4EBEE543-76FC-43E8-A9F2-8D9E1D4CB464}"/>
              </a:ext>
            </a:extLst>
          </p:cNvPr>
          <p:cNvGraphicFramePr/>
          <p:nvPr/>
        </p:nvGraphicFramePr>
        <p:xfrm>
          <a:off xmlns:a="http://schemas.openxmlformats.org/drawingml/2006/main" x="5810250" y="1762125"/>
          <a:ext xmlns:a="http://schemas.openxmlformats.org/drawingml/2006/main" cx="5715000" cy="40005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d8f443cda0d04a4e"/>
          </a:graphicData>
        </a:graphic>
      </p:graphicFrame>
    </p:spTree>
    <p:extLst>
      <p:ext uri="{BB962C8B-B14F-4D97-AF65-F5344CB8AC3E}">
        <p14:creationId xmlns:p14="http://schemas.microsoft.com/office/powerpoint/2010/main" val="1679424273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26AE3CC-D241-4F59-A892-13CF9D392C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81000"/>
            <a:ext cx="110490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850" b="1">
                <a:solidFill>
                  <a:srgbClr val="203864"/>
                </a:solidFill>
              </a:defRPr>
            </a:defPPr>
          </a:lstStyle>
          <a:p xmlns:a="http://schemas.openxmlformats.org/drawingml/2006/main">
            <a:pPr>
              <a:buNone/>
              <a:defRPr sz="2850" b="1">
                <a:solidFill>
                  <a:srgbClr val="203864"/>
                </a:solidFill>
              </a:defRPr>
            </a:pPr>
            <a:r>
              <a:rPr sz="2850" b="1">
                <a:solidFill>
                  <a:srgbClr val="203864"/>
                </a:solidFill>
              </a:rPr>
              <a:t>Age groups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496DE10-7B28-438F-B0D8-C784C4B1F2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238250"/>
            <a:ext cx="11049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1">
                <a:solidFill>
                  <a:srgbClr val="4472C4"/>
                </a:solidFill>
              </a:defRPr>
            </a:defPPr>
          </a:lstStyle>
          <a:p xmlns:a="http://schemas.openxmlformats.org/drawingml/2006/main">
            <a:pPr>
              <a:buNone/>
              <a:defRPr sz="1800" b="1">
                <a:solidFill>
                  <a:srgbClr val="4472C4"/>
                </a:solidFill>
              </a:defRPr>
            </a:pPr>
            <a:r>
              <a:rPr sz="1800" b="1">
                <a:solidFill>
                  <a:srgbClr val="4472C4"/>
                </a:solidFill>
              </a:rPr>
              <a:t/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4DCF53A-7B9C-4F91-B2E9-206306F465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809750"/>
            <a:ext cx="10858500" cy="419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0">
                <a:solidFill>
                  <a:srgbClr val="333333"/>
                </a:solidFill>
              </a:defRPr>
            </a:defPPr>
          </a:lstStyle>
          <a:p xmlns:a="http://schemas.openxmlformats.org/drawingml/2006/main">
            <a:pPr>
              <a:buNone/>
              <a:defRPr sz="2100" b="0">
                <a:solidFill>
                  <a:srgbClr val="333333"/>
                </a:solidFill>
              </a:defRPr>
            </a:pPr>
            <a:r>
              <a:rPr sz="2100" b="0">
                <a:solidFill>
                  <a:srgbClr val="333333"/>
                </a:solidFill>
              </a:rPr>
              <a:t>Age Group =</a:t>
            </a:r>
          </a:p>
          <a:p xmlns:a="http://schemas.openxmlformats.org/drawingml/2006/main">
            <a:pPr>
              <a:buNone/>
              <a:defRPr sz="2100" b="0">
                <a:solidFill>
                  <a:srgbClr val="333333"/>
                </a:solidFill>
              </a:defRPr>
            </a:pPr>
            <a:r>
              <a:rPr sz="2100" b="0">
                <a:solidFill>
                  <a:srgbClr val="333333"/>
                </a:solidFill>
              </a:rPr>
              <a:t>SWITCH(TRUE(),</a:t>
            </a:r>
          </a:p>
          <a:p xmlns:a="http://schemas.openxmlformats.org/drawingml/2006/main">
            <a:pPr>
              <a:buNone/>
              <a:defRPr sz="2100" b="0">
                <a:solidFill>
                  <a:srgbClr val="333333"/>
                </a:solidFill>
              </a:defRPr>
            </a:pPr>
            <a:r>
              <a:rPr sz="2100" b="0">
                <a:solidFill>
                  <a:srgbClr val="333333"/>
                </a:solidFill>
              </a:rPr>
              <a:t>    'Sheet1'[Age] &lt; 30, "18–29",</a:t>
            </a:r>
          </a:p>
          <a:p xmlns:a="http://schemas.openxmlformats.org/drawingml/2006/main">
            <a:pPr>
              <a:buNone/>
              <a:defRPr sz="2100" b="0">
                <a:solidFill>
                  <a:srgbClr val="333333"/>
                </a:solidFill>
              </a:defRPr>
            </a:pPr>
            <a:r>
              <a:rPr sz="2100" b="0">
                <a:solidFill>
                  <a:srgbClr val="333333"/>
                </a:solidFill>
              </a:rPr>
              <a:t>    'Sheet1'[Age] &lt; 40, "30–39",</a:t>
            </a:r>
          </a:p>
          <a:p xmlns:a="http://schemas.openxmlformats.org/drawingml/2006/main">
            <a:pPr>
              <a:buNone/>
              <a:defRPr sz="2100" b="0">
                <a:solidFill>
                  <a:srgbClr val="333333"/>
                </a:solidFill>
              </a:defRPr>
            </a:pPr>
            <a:r>
              <a:rPr sz="2100" b="0">
                <a:solidFill>
                  <a:srgbClr val="333333"/>
                </a:solidFill>
              </a:rPr>
              <a:t>    'Sheet1'[Age] &lt; 50, "40–49",</a:t>
            </a:r>
          </a:p>
          <a:p xmlns:a="http://schemas.openxmlformats.org/drawingml/2006/main">
            <a:pPr>
              <a:buNone/>
              <a:defRPr sz="2100" b="0">
                <a:solidFill>
                  <a:srgbClr val="333333"/>
                </a:solidFill>
              </a:defRPr>
            </a:pPr>
            <a:r>
              <a:rPr sz="2100" b="0">
                <a:solidFill>
                  <a:srgbClr val="333333"/>
                </a:solidFill>
              </a:rPr>
              <a:t>    'Sheet1'[Age] &lt; 60, "50–59",</a:t>
            </a:r>
          </a:p>
          <a:p xmlns:a="http://schemas.openxmlformats.org/drawingml/2006/main">
            <a:pPr>
              <a:buNone/>
              <a:defRPr sz="2100" b="0">
                <a:solidFill>
                  <a:srgbClr val="333333"/>
                </a:solidFill>
              </a:defRPr>
            </a:pPr>
            <a:r>
              <a:rPr sz="2100" b="0">
                <a:solidFill>
                  <a:srgbClr val="333333"/>
                </a:solidFill>
              </a:rPr>
              <a:t>    "60+"</a:t>
            </a:r>
          </a:p>
          <a:p xmlns:a="http://schemas.openxmlformats.org/drawingml/2006/main">
            <a:pPr>
              <a:buNone/>
              <a:defRPr sz="2100" b="0">
                <a:solidFill>
                  <a:srgbClr val="333333"/>
                </a:solidFill>
              </a:defRPr>
            </a:pPr>
            <a:r>
              <a:rPr sz="2100" b="0">
                <a:solidFill>
                  <a:srgbClr val="333333"/>
                </a:solidFill>
              </a:rPr>
              <a:t>)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buNone/>
              <a:defRPr sz="2100" b="0">
                <a:solidFill>
                  <a:srgbClr val="333333"/>
                </a:solidFill>
              </a:defRPr>
            </a:pPr>
            <a:r>
              <a:rPr sz="2100" b="0">
                <a:solidFill>
                  <a:srgbClr val="333333"/>
                </a:solidFill>
              </a:rPr>
              <a:t>These groups fit this workbook’s age range. Set the column type to Text.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FC90BB3-E193-4006-9CC6-1598503E53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6419850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777777"/>
                </a:solidFill>
              </a:defRPr>
            </a:defPPr>
          </a:lstStyle>
          <a:p xmlns:a="http://schemas.openxmlformats.org/drawingml/2006/main">
            <a:pPr>
              <a:buNone/>
              <a:defRPr sz="1200" b="0">
                <a:solidFill>
                  <a:srgbClr val="777777"/>
                </a:solidFill>
              </a:defRPr>
            </a:pPr>
            <a:r>
              <a:rPr sz="1200" b="0">
                <a:solidFill>
                  <a:srgbClr val="777777"/>
                </a:solidFill>
              </a:rPr>
              <a:t>17</a:t>
            </a:r>
          </a:p>
        </p:txBody>
      </p:sp>
    </p:spTree>
    <p:extLst>
      <p:ext uri="{BB962C8B-B14F-4D97-AF65-F5344CB8AC3E}">
        <p14:creationId xmlns:p14="http://schemas.microsoft.com/office/powerpoint/2010/main" val="664383446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600F76E-0B75-4534-AC57-F3EA6CBB4C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81000"/>
            <a:ext cx="110490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850" b="1">
                <a:solidFill>
                  <a:srgbClr val="203864"/>
                </a:solidFill>
              </a:defRPr>
            </a:defPPr>
          </a:lstStyle>
          <a:p xmlns:a="http://schemas.openxmlformats.org/drawingml/2006/main">
            <a:pPr>
              <a:buNone/>
              <a:defRPr sz="2850" b="1">
                <a:solidFill>
                  <a:srgbClr val="203864"/>
                </a:solidFill>
              </a:defRPr>
            </a:pPr>
            <a:r>
              <a:rPr sz="2850" b="1">
                <a:solidFill>
                  <a:srgbClr val="203864"/>
                </a:solidFill>
              </a:rPr>
              <a:t>Churn by age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EB95353-EFF7-4553-AD06-C30C976F2A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238250"/>
            <a:ext cx="11049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1">
                <a:solidFill>
                  <a:srgbClr val="4472C4"/>
                </a:solidFill>
              </a:defRPr>
            </a:defPPr>
          </a:lstStyle>
          <a:p xmlns:a="http://schemas.openxmlformats.org/drawingml/2006/main">
            <a:pPr>
              <a:buNone/>
              <a:defRPr sz="1800" b="1">
                <a:solidFill>
                  <a:srgbClr val="4472C4"/>
                </a:solidFill>
              </a:defRPr>
            </a:pPr>
            <a:r>
              <a:rPr sz="1800" b="1">
                <a:solidFill>
                  <a:srgbClr val="4472C4"/>
                </a:solidFill>
              </a:rPr>
              <a:t/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EF198E3-50ED-4B47-8DF0-5AE2A0615B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857375"/>
            <a:ext cx="4762500" cy="3476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0">
                <a:solidFill>
                  <a:srgbClr val="333333"/>
                </a:solidFill>
              </a:defRPr>
            </a:defPPr>
          </a:lstStyle>
          <a:p xmlns:a="http://schemas.openxmlformats.org/drawingml/2006/main">
            <a:pPr>
              <a:buNone/>
              <a:defRPr sz="2025" b="0">
                <a:solidFill>
                  <a:srgbClr val="333333"/>
                </a:solidFill>
              </a:defRPr>
            </a:pPr>
            <a:r>
              <a:rPr sz="2025" b="0">
                <a:solidFill>
                  <a:srgbClr val="333333"/>
                </a:solidFill>
              </a:rPr>
              <a:t>1. Add a Clustered column chart.</a:t>
            </a:r>
          </a:p>
          <a:p xmlns:a="http://schemas.openxmlformats.org/drawingml/2006/main">
            <a:pPr>
              <a:buNone/>
              <a:defRPr sz="2025" b="0">
                <a:solidFill>
                  <a:srgbClr val="333333"/>
                </a:solidFill>
              </a:defRPr>
            </a:pPr>
            <a:r>
              <a:rPr sz="2025" b="0">
                <a:solidFill>
                  <a:srgbClr val="333333"/>
                </a:solidFill>
              </a:rPr>
              <a:t>2. X-axis: Age Group.</a:t>
            </a:r>
          </a:p>
          <a:p xmlns:a="http://schemas.openxmlformats.org/drawingml/2006/main">
            <a:pPr>
              <a:buNone/>
              <a:defRPr sz="2025" b="0">
                <a:solidFill>
                  <a:srgbClr val="333333"/>
                </a:solidFill>
              </a:defRPr>
            </a:pPr>
            <a:r>
              <a:rPr sz="2025" b="0">
                <a:solidFill>
                  <a:srgbClr val="333333"/>
                </a:solidFill>
              </a:rPr>
              <a:t>3. Y-axis: [Total Customers].</a:t>
            </a:r>
          </a:p>
          <a:p xmlns:a="http://schemas.openxmlformats.org/drawingml/2006/main">
            <a:pPr>
              <a:buNone/>
              <a:defRPr sz="2025" b="0">
                <a:solidFill>
                  <a:srgbClr val="333333"/>
                </a:solidFill>
              </a:defRPr>
            </a:pPr>
            <a:r>
              <a:rPr sz="2025" b="0">
                <a:solidFill>
                  <a:srgbClr val="333333"/>
                </a:solidFill>
              </a:rPr>
              <a:t>4. Legend: Churn.</a:t>
            </a:r>
          </a:p>
          <a:p xmlns:a="http://schemas.openxmlformats.org/drawingml/2006/main">
            <a:pPr>
              <a:buNone/>
              <a:defRPr sz="2025" b="0">
                <a:solidFill>
                  <a:srgbClr val="333333"/>
                </a:solidFill>
              </a:defRPr>
            </a:pPr>
            <a:r>
              <a:rPr sz="2025" b="0">
                <a:solidFill>
                  <a:srgbClr val="333333"/>
                </a:solidFill>
              </a:rPr>
              <a:t>5. Sort age groups ascending.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D087861-2794-4F50-B633-00EF37B721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5857875"/>
            <a:ext cx="10858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0">
                <a:solidFill>
                  <a:srgbClr val="333333"/>
                </a:solidFill>
              </a:defRPr>
            </a:defPPr>
          </a:lstStyle>
          <a:p xmlns:a="http://schemas.openxmlformats.org/drawingml/2006/main">
            <a:pPr>
              <a:buNone/>
              <a:defRPr sz="1650" b="0">
                <a:solidFill>
                  <a:srgbClr val="333333"/>
                </a:solidFill>
              </a:defRPr>
            </a:pPr>
            <a:r>
              <a:rPr sz="1650" b="0">
                <a:solidFill>
                  <a:srgbClr val="333333"/>
                </a:solidFill>
              </a:rPr>
              <a:t>The 50–59 group has 31 churned customers. Compare rates before judging risk.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09F84AF-06D7-4518-BD4E-9CFEA3397F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6419850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777777"/>
                </a:solidFill>
              </a:defRPr>
            </a:defPPr>
          </a:lstStyle>
          <a:p xmlns:a="http://schemas.openxmlformats.org/drawingml/2006/main">
            <a:pPr>
              <a:buNone/>
              <a:defRPr sz="1200" b="0">
                <a:solidFill>
                  <a:srgbClr val="777777"/>
                </a:solidFill>
              </a:defRPr>
            </a:pPr>
            <a:r>
              <a:rPr sz="1200" b="0">
                <a:solidFill>
                  <a:srgbClr val="777777"/>
                </a:solidFill>
              </a:rPr>
              <a:t>18</a:t>
            </a:r>
          </a:p>
        </p:txBody>
      </p:sp>
      <p:graphicFrame>
        <p:nvGraphicFramePr>
          <p:cNvPr id="8" name="Chart">
            <a:extLst xmlns:a="http://schemas.openxmlformats.org/drawingml/2006/main">
              <a:ext uri="{FF2B5EF4-FFF2-40B4-BE49-F238E27FC236}">
                <a16:creationId xmlns:a16="http://schemas.microsoft.com/office/drawing/2014/main" id="{9D4BD8D2-1BD8-4FD3-8FDD-71389A84B8A3}"/>
              </a:ext>
            </a:extLst>
          </p:cNvPr>
          <p:cNvGraphicFramePr/>
          <p:nvPr/>
        </p:nvGraphicFramePr>
        <p:xfrm>
          <a:off xmlns:a="http://schemas.openxmlformats.org/drawingml/2006/main" x="5810250" y="1762125"/>
          <a:ext xmlns:a="http://schemas.openxmlformats.org/drawingml/2006/main" cx="5715000" cy="40005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d9499b018e804c68"/>
          </a:graphicData>
        </a:graphic>
      </p:graphicFrame>
    </p:spTree>
    <p:extLst>
      <p:ext uri="{BB962C8B-B14F-4D97-AF65-F5344CB8AC3E}">
        <p14:creationId xmlns:p14="http://schemas.microsoft.com/office/powerpoint/2010/main" val="1868031832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0B12C54-7226-47B1-AF29-DCD123324A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81000"/>
            <a:ext cx="110490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850" b="1">
                <a:solidFill>
                  <a:srgbClr val="203864"/>
                </a:solidFill>
              </a:defRPr>
            </a:defPPr>
          </a:lstStyle>
          <a:p xmlns:a="http://schemas.openxmlformats.org/drawingml/2006/main">
            <a:pPr>
              <a:buNone/>
              <a:defRPr sz="2850" b="1">
                <a:solidFill>
                  <a:srgbClr val="203864"/>
                </a:solidFill>
              </a:defRPr>
            </a:pPr>
            <a:r>
              <a:rPr sz="2850" b="1">
                <a:solidFill>
                  <a:srgbClr val="203864"/>
                </a:solidFill>
              </a:rPr>
              <a:t>Satisfaction and churn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570C6BA-FA5C-4128-989F-982057EDBD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238250"/>
            <a:ext cx="11049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1">
                <a:solidFill>
                  <a:srgbClr val="4472C4"/>
                </a:solidFill>
              </a:defRPr>
            </a:defPPr>
          </a:lstStyle>
          <a:p xmlns:a="http://schemas.openxmlformats.org/drawingml/2006/main">
            <a:pPr>
              <a:buNone/>
              <a:defRPr sz="1800" b="1">
                <a:solidFill>
                  <a:srgbClr val="4472C4"/>
                </a:solidFill>
              </a:defRPr>
            </a:pPr>
            <a:r>
              <a:rPr sz="1800" b="1">
                <a:solidFill>
                  <a:srgbClr val="4472C4"/>
                </a:solidFill>
              </a:rPr>
              <a:t/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3BC0E66-9BFD-49B8-8245-5FC54B675B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5625" y="1857375"/>
            <a:ext cx="4619625" cy="3476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0">
                <a:solidFill>
                  <a:srgbClr val="333333"/>
                </a:solidFill>
              </a:defRPr>
            </a:defPPr>
          </a:lstStyle>
          <a:p xmlns:a="http://schemas.openxmlformats.org/drawingml/2006/main">
            <a:pPr>
              <a:buNone/>
              <a:defRPr sz="2025" b="0">
                <a:solidFill>
                  <a:srgbClr val="333333"/>
                </a:solidFill>
              </a:defRPr>
            </a:pPr>
            <a:r>
              <a:rPr sz="2025" b="0">
                <a:solidFill>
                  <a:srgbClr val="333333"/>
                </a:solidFill>
              </a:rPr>
              <a:t>1. Add a Clustered column chart.</a:t>
            </a:r>
          </a:p>
          <a:p xmlns:a="http://schemas.openxmlformats.org/drawingml/2006/main">
            <a:pPr>
              <a:buNone/>
              <a:defRPr sz="2025" b="0">
                <a:solidFill>
                  <a:srgbClr val="333333"/>
                </a:solidFill>
              </a:defRPr>
            </a:pPr>
            <a:r>
              <a:rPr sz="2025" b="0">
                <a:solidFill>
                  <a:srgbClr val="333333"/>
                </a:solidFill>
              </a:rPr>
              <a:t>2. X-axis: Satisfaction_Score.</a:t>
            </a:r>
          </a:p>
          <a:p xmlns:a="http://schemas.openxmlformats.org/drawingml/2006/main">
            <a:pPr>
              <a:buNone/>
              <a:defRPr sz="2025" b="0">
                <a:solidFill>
                  <a:srgbClr val="333333"/>
                </a:solidFill>
              </a:defRPr>
            </a:pPr>
            <a:r>
              <a:rPr sz="2025" b="0">
                <a:solidFill>
                  <a:srgbClr val="333333"/>
                </a:solidFill>
              </a:rPr>
              <a:t>3. Y-axis: [Total Customers].</a:t>
            </a:r>
          </a:p>
          <a:p xmlns:a="http://schemas.openxmlformats.org/drawingml/2006/main">
            <a:pPr>
              <a:buNone/>
              <a:defRPr sz="2025" b="0">
                <a:solidFill>
                  <a:srgbClr val="333333"/>
                </a:solidFill>
              </a:defRPr>
            </a:pPr>
            <a:r>
              <a:rPr sz="2025" b="0">
                <a:solidFill>
                  <a:srgbClr val="333333"/>
                </a:solidFill>
              </a:rPr>
              <a:t>4. Legend: Churn.</a:t>
            </a:r>
          </a:p>
          <a:p xmlns:a="http://schemas.openxmlformats.org/drawingml/2006/main">
            <a:pPr>
              <a:buNone/>
              <a:defRPr sz="2025" b="0">
                <a:solidFill>
                  <a:srgbClr val="333333"/>
                </a:solidFill>
              </a:defRPr>
            </a:pPr>
            <a:r>
              <a:rPr sz="2025" b="0">
                <a:solidFill>
                  <a:srgbClr val="333333"/>
                </a:solidFill>
              </a:rPr>
              <a:t>5. Sort the score ascending.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0280C15-8E34-49D1-B619-845BCAD109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5857875"/>
            <a:ext cx="10858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0">
                <a:solidFill>
                  <a:srgbClr val="333333"/>
                </a:solidFill>
              </a:defRPr>
            </a:defPPr>
          </a:lstStyle>
          <a:p xmlns:a="http://schemas.openxmlformats.org/drawingml/2006/main">
            <a:pPr>
              <a:buNone/>
              <a:defRPr sz="1650" b="0">
                <a:solidFill>
                  <a:srgbClr val="333333"/>
                </a:solidFill>
              </a:defRPr>
            </a:pPr>
            <a:r>
              <a:rPr sz="1650" b="0">
                <a:solidFill>
                  <a:srgbClr val="333333"/>
                </a:solidFill>
              </a:rPr>
              <a:t>Score 2 has 35 churned customers out of 109, a churn rate of 32.1%.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6D91424-15A5-439F-921F-F9E34CD631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6419850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777777"/>
                </a:solidFill>
              </a:defRPr>
            </a:defPPr>
          </a:lstStyle>
          <a:p xmlns:a="http://schemas.openxmlformats.org/drawingml/2006/main">
            <a:pPr>
              <a:buNone/>
              <a:defRPr sz="1200" b="0">
                <a:solidFill>
                  <a:srgbClr val="777777"/>
                </a:solidFill>
              </a:defRPr>
            </a:pPr>
            <a:r>
              <a:rPr sz="1200" b="0">
                <a:solidFill>
                  <a:srgbClr val="777777"/>
                </a:solidFill>
              </a:rPr>
              <a:t>19</a:t>
            </a:r>
          </a:p>
        </p:txBody>
      </p:sp>
      <p:graphicFrame>
        <p:nvGraphicFramePr>
          <p:cNvPr id="8" name="Chart">
            <a:extLst xmlns:a="http://schemas.openxmlformats.org/drawingml/2006/main">
              <a:ext uri="{FF2B5EF4-FFF2-40B4-BE49-F238E27FC236}">
                <a16:creationId xmlns:a16="http://schemas.microsoft.com/office/drawing/2014/main" id="{25BB9B95-537C-462B-B3EF-25940D7542ED}"/>
              </a:ext>
            </a:extLst>
          </p:cNvPr>
          <p:cNvGraphicFramePr/>
          <p:nvPr/>
        </p:nvGraphicFramePr>
        <p:xfrm>
          <a:off xmlns:a="http://schemas.openxmlformats.org/drawingml/2006/main" x="619125" y="1762125"/>
          <a:ext xmlns:a="http://schemas.openxmlformats.org/drawingml/2006/main" cx="5810250" cy="40005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1e4f66fc2ff14e24"/>
          </a:graphicData>
        </a:graphic>
      </p:graphicFrame>
    </p:spTree>
    <p:extLst>
      <p:ext uri="{BB962C8B-B14F-4D97-AF65-F5344CB8AC3E}">
        <p14:creationId xmlns:p14="http://schemas.microsoft.com/office/powerpoint/2010/main" val="254300815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DE88C09-8FCC-4076-8822-AA012E98BD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81000"/>
            <a:ext cx="110490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850" b="1">
                <a:solidFill>
                  <a:srgbClr val="203864"/>
                </a:solidFill>
              </a:defRPr>
            </a:defPPr>
          </a:lstStyle>
          <a:p xmlns:a="http://schemas.openxmlformats.org/drawingml/2006/main">
            <a:pPr>
              <a:buNone/>
              <a:defRPr sz="2850" b="1">
                <a:solidFill>
                  <a:srgbClr val="203864"/>
                </a:solidFill>
              </a:defRPr>
            </a:pPr>
            <a:r>
              <a:rPr sz="2850" b="1">
                <a:solidFill>
                  <a:srgbClr val="203864"/>
                </a:solidFill>
              </a:rPr>
              <a:t>Support calls and churn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14F9D15-77C3-4FCA-9C6C-F27E3EE819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238250"/>
            <a:ext cx="11049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1">
                <a:solidFill>
                  <a:srgbClr val="4472C4"/>
                </a:solidFill>
              </a:defRPr>
            </a:defPPr>
          </a:lstStyle>
          <a:p xmlns:a="http://schemas.openxmlformats.org/drawingml/2006/main">
            <a:pPr>
              <a:buNone/>
              <a:defRPr sz="1800" b="1">
                <a:solidFill>
                  <a:srgbClr val="4472C4"/>
                </a:solidFill>
              </a:defRPr>
            </a:pPr>
            <a:r>
              <a:rPr sz="1800" b="1">
                <a:solidFill>
                  <a:srgbClr val="4472C4"/>
                </a:solidFill>
              </a:rPr>
              <a:t/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C12AC08-A770-42AB-A3A8-13E6717C57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857375"/>
            <a:ext cx="4762500" cy="3476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0">
                <a:solidFill>
                  <a:srgbClr val="333333"/>
                </a:solidFill>
              </a:defRPr>
            </a:defPPr>
          </a:lstStyle>
          <a:p xmlns:a="http://schemas.openxmlformats.org/drawingml/2006/main">
            <a:pPr>
              <a:buNone/>
              <a:defRPr sz="2025" b="0">
                <a:solidFill>
                  <a:srgbClr val="333333"/>
                </a:solidFill>
              </a:defRPr>
            </a:pPr>
            <a:r>
              <a:rPr sz="2025" b="0">
                <a:solidFill>
                  <a:srgbClr val="333333"/>
                </a:solidFill>
              </a:rPr>
              <a:t>1. Add a Clustered column chart.</a:t>
            </a:r>
          </a:p>
          <a:p xmlns:a="http://schemas.openxmlformats.org/drawingml/2006/main">
            <a:pPr>
              <a:buNone/>
              <a:defRPr sz="2025" b="0">
                <a:solidFill>
                  <a:srgbClr val="333333"/>
                </a:solidFill>
              </a:defRPr>
            </a:pPr>
            <a:r>
              <a:rPr sz="2025" b="0">
                <a:solidFill>
                  <a:srgbClr val="333333"/>
                </a:solidFill>
              </a:rPr>
              <a:t>2. X-axis: Support_Calls.</a:t>
            </a:r>
          </a:p>
          <a:p xmlns:a="http://schemas.openxmlformats.org/drawingml/2006/main">
            <a:pPr>
              <a:buNone/>
              <a:defRPr sz="2025" b="0">
                <a:solidFill>
                  <a:srgbClr val="333333"/>
                </a:solidFill>
              </a:defRPr>
            </a:pPr>
            <a:r>
              <a:rPr sz="2025" b="0">
                <a:solidFill>
                  <a:srgbClr val="333333"/>
                </a:solidFill>
              </a:rPr>
              <a:t>3. Y-axis: [Total Customers].</a:t>
            </a:r>
          </a:p>
          <a:p xmlns:a="http://schemas.openxmlformats.org/drawingml/2006/main">
            <a:pPr>
              <a:buNone/>
              <a:defRPr sz="2025" b="0">
                <a:solidFill>
                  <a:srgbClr val="333333"/>
                </a:solidFill>
              </a:defRPr>
            </a:pPr>
            <a:r>
              <a:rPr sz="2025" b="0">
                <a:solidFill>
                  <a:srgbClr val="333333"/>
                </a:solidFill>
              </a:rPr>
              <a:t>4. Legend: Churn.</a:t>
            </a:r>
          </a:p>
          <a:p xmlns:a="http://schemas.openxmlformats.org/drawingml/2006/main">
            <a:pPr>
              <a:buNone/>
              <a:defRPr sz="2025" b="0">
                <a:solidFill>
                  <a:srgbClr val="333333"/>
                </a:solidFill>
              </a:defRPr>
            </a:pPr>
            <a:r>
              <a:rPr sz="2025" b="0">
                <a:solidFill>
                  <a:srgbClr val="333333"/>
                </a:solidFill>
              </a:rPr>
              <a:t>5. Sort call counts ascending.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949FB91-4FFF-4F8D-BC42-736064F0F1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5857875"/>
            <a:ext cx="10858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0">
                <a:solidFill>
                  <a:srgbClr val="333333"/>
                </a:solidFill>
              </a:defRPr>
            </a:defPPr>
          </a:lstStyle>
          <a:p xmlns:a="http://schemas.openxmlformats.org/drawingml/2006/main">
            <a:pPr>
              <a:buNone/>
              <a:defRPr sz="1650" b="0">
                <a:solidFill>
                  <a:srgbClr val="333333"/>
                </a:solidFill>
              </a:defRPr>
            </a:pPr>
            <a:r>
              <a:rPr sz="1650" b="0">
                <a:solidFill>
                  <a:srgbClr val="333333"/>
                </a:solidFill>
              </a:rPr>
              <a:t>At 7 calls, 17 of 53 customers churned. At 8 calls, 16 of 50 churned.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0FD56EC-7F2D-49BE-BD09-BBC3B21CBB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6419850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777777"/>
                </a:solidFill>
              </a:defRPr>
            </a:defPPr>
          </a:lstStyle>
          <a:p xmlns:a="http://schemas.openxmlformats.org/drawingml/2006/main">
            <a:pPr>
              <a:buNone/>
              <a:defRPr sz="1200" b="0">
                <a:solidFill>
                  <a:srgbClr val="777777"/>
                </a:solidFill>
              </a:defRPr>
            </a:pPr>
            <a:r>
              <a:rPr sz="1200" b="0">
                <a:solidFill>
                  <a:srgbClr val="777777"/>
                </a:solidFill>
              </a:rPr>
              <a:t>20</a:t>
            </a:r>
          </a:p>
        </p:txBody>
      </p:sp>
      <p:graphicFrame>
        <p:nvGraphicFramePr>
          <p:cNvPr id="8" name="Chart">
            <a:extLst xmlns:a="http://schemas.openxmlformats.org/drawingml/2006/main">
              <a:ext uri="{FF2B5EF4-FFF2-40B4-BE49-F238E27FC236}">
                <a16:creationId xmlns:a16="http://schemas.microsoft.com/office/drawing/2014/main" id="{2E4ECB07-261A-483C-855F-0B95DC200BBD}"/>
              </a:ext>
            </a:extLst>
          </p:cNvPr>
          <p:cNvGraphicFramePr/>
          <p:nvPr/>
        </p:nvGraphicFramePr>
        <p:xfrm>
          <a:off xmlns:a="http://schemas.openxmlformats.org/drawingml/2006/main" x="5810250" y="1762125"/>
          <a:ext xmlns:a="http://schemas.openxmlformats.org/drawingml/2006/main" cx="5715000" cy="40005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7ab1a647efeb4341"/>
          </a:graphicData>
        </a:graphic>
      </p:graphicFrame>
    </p:spTree>
    <p:extLst>
      <p:ext uri="{BB962C8B-B14F-4D97-AF65-F5344CB8AC3E}">
        <p14:creationId xmlns:p14="http://schemas.microsoft.com/office/powerpoint/2010/main" val="1693186312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D9329F3-9C1D-4B0D-B9F4-2750FE7795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81000"/>
            <a:ext cx="110490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850" b="1">
                <a:solidFill>
                  <a:srgbClr val="203864"/>
                </a:solidFill>
              </a:defRPr>
            </a:defPPr>
          </a:lstStyle>
          <a:p xmlns:a="http://schemas.openxmlformats.org/drawingml/2006/main">
            <a:pPr>
              <a:buNone/>
              <a:defRPr sz="2850" b="1">
                <a:solidFill>
                  <a:srgbClr val="203864"/>
                </a:solidFill>
              </a:defRPr>
            </a:pPr>
            <a:r>
              <a:rPr sz="2850" b="1">
                <a:solidFill>
                  <a:srgbClr val="203864"/>
                </a:solidFill>
              </a:rPr>
              <a:t>Using slicers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E4ED081-89C3-4CF7-AA5F-22472A2369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238250"/>
            <a:ext cx="11049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1">
                <a:solidFill>
                  <a:srgbClr val="4472C4"/>
                </a:solidFill>
              </a:defRPr>
            </a:defPPr>
          </a:lstStyle>
          <a:p xmlns:a="http://schemas.openxmlformats.org/drawingml/2006/main">
            <a:pPr>
              <a:buNone/>
              <a:defRPr sz="1800" b="1">
                <a:solidFill>
                  <a:srgbClr val="4472C4"/>
                </a:solidFill>
              </a:defRPr>
            </a:pPr>
            <a:r>
              <a:rPr sz="1800" b="1">
                <a:solidFill>
                  <a:srgbClr val="4472C4"/>
                </a:solidFill>
              </a:rPr>
              <a:t/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A2B3AFB-9ADB-4E92-BFFB-073722CAB5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809750"/>
            <a:ext cx="10858500" cy="419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0">
                <a:solidFill>
                  <a:srgbClr val="333333"/>
                </a:solidFill>
              </a:defRPr>
            </a:defPPr>
          </a:lstStyle>
          <a:p xmlns:a="http://schemas.openxmlformats.org/drawingml/2006/main">
            <a:pPr>
              <a:buNone/>
              <a:defRPr sz="2100" b="0">
                <a:solidFill>
                  <a:srgbClr val="333333"/>
                </a:solidFill>
              </a:defRPr>
            </a:pPr>
            <a:r>
              <a:rPr sz="2100" b="0">
                <a:solidFill>
                  <a:srgbClr val="333333"/>
                </a:solidFill>
              </a:rPr>
              <a:t>1. Add a Slicer visual using City.</a:t>
            </a:r>
          </a:p>
          <a:p xmlns:a="http://schemas.openxmlformats.org/drawingml/2006/main">
            <a:pPr>
              <a:buNone/>
              <a:defRPr sz="2100" b="0">
                <a:solidFill>
                  <a:srgbClr val="333333"/>
                </a:solidFill>
              </a:defRPr>
            </a:pPr>
            <a:r>
              <a:rPr sz="2100" b="0">
                <a:solidFill>
                  <a:srgbClr val="333333"/>
                </a:solidFill>
              </a:rPr>
              <a:t>2. Repeat for Gender and Customer_Type.</a:t>
            </a:r>
          </a:p>
          <a:p xmlns:a="http://schemas.openxmlformats.org/drawingml/2006/main">
            <a:pPr>
              <a:buNone/>
              <a:defRPr sz="2100" b="0">
                <a:solidFill>
                  <a:srgbClr val="333333"/>
                </a:solidFill>
              </a:defRPr>
            </a:pPr>
            <a:r>
              <a:rPr sz="2100" b="0">
                <a:solidFill>
                  <a:srgbClr val="333333"/>
                </a:solidFill>
              </a:rPr>
              <a:t>3. Choose dropdowns when space is limited.</a:t>
            </a:r>
          </a:p>
          <a:p xmlns:a="http://schemas.openxmlformats.org/drawingml/2006/main">
            <a:pPr>
              <a:buNone/>
              <a:defRPr sz="2100" b="0">
                <a:solidFill>
                  <a:srgbClr val="333333"/>
                </a:solidFill>
              </a:defRPr>
            </a:pPr>
            <a:r>
              <a:rPr sz="2100" b="0">
                <a:solidFill>
                  <a:srgbClr val="333333"/>
                </a:solidFill>
              </a:rPr>
              <a:t>4. Select a city and check the cards and charts.</a:t>
            </a:r>
          </a:p>
          <a:p xmlns:a="http://schemas.openxmlformats.org/drawingml/2006/main">
            <a:pPr>
              <a:buNone/>
              <a:defRPr sz="2100" b="0">
                <a:solidFill>
                  <a:srgbClr val="333333"/>
                </a:solidFill>
              </a:defRPr>
            </a:pPr>
            <a:r>
              <a:rPr sz="2100" b="0">
                <a:solidFill>
                  <a:srgbClr val="333333"/>
                </a:solidFill>
              </a:rPr>
              <a:t>5. Clear the selection before reporting overall totals.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buNone/>
              <a:defRPr sz="2100" b="0">
                <a:solidFill>
                  <a:srgbClr val="333333"/>
                </a:solidFill>
              </a:defRPr>
            </a:pPr>
            <a:r>
              <a:rPr sz="2100" b="0">
                <a:solidFill>
                  <a:srgbClr val="333333"/>
                </a:solidFill>
              </a:rPr>
              <a:t>Use Format &gt; Edit interactions to choose which visuals each slicer filters.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016185D-C79D-42B4-BF20-4F3DFBF2D3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6419850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777777"/>
                </a:solidFill>
              </a:defRPr>
            </a:defPPr>
          </a:lstStyle>
          <a:p xmlns:a="http://schemas.openxmlformats.org/drawingml/2006/main">
            <a:pPr>
              <a:buNone/>
              <a:defRPr sz="1200" b="0">
                <a:solidFill>
                  <a:srgbClr val="777777"/>
                </a:solidFill>
              </a:defRPr>
            </a:pPr>
            <a:r>
              <a:rPr sz="1200" b="0">
                <a:solidFill>
                  <a:srgbClr val="777777"/>
                </a:solidFill>
              </a:rPr>
              <a:t>21</a:t>
            </a:r>
          </a:p>
        </p:txBody>
      </p:sp>
    </p:spTree>
    <p:extLst>
      <p:ext uri="{BB962C8B-B14F-4D97-AF65-F5344CB8AC3E}">
        <p14:creationId xmlns:p14="http://schemas.microsoft.com/office/powerpoint/2010/main" val="1236270148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67CBB62-51F4-4DE8-B5E0-8CB36F6013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81000"/>
            <a:ext cx="110490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850" b="1">
                <a:solidFill>
                  <a:srgbClr val="203864"/>
                </a:solidFill>
              </a:defRPr>
            </a:defPPr>
          </a:lstStyle>
          <a:p xmlns:a="http://schemas.openxmlformats.org/drawingml/2006/main">
            <a:pPr>
              <a:buNone/>
              <a:defRPr sz="2850" b="1">
                <a:solidFill>
                  <a:srgbClr val="203864"/>
                </a:solidFill>
              </a:defRPr>
            </a:pPr>
            <a:r>
              <a:rPr sz="2850" b="1">
                <a:solidFill>
                  <a:srgbClr val="203864"/>
                </a:solidFill>
              </a:rPr>
              <a:t>Report layout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4212008-CF6C-4B5F-88B2-9DCE2AA363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238250"/>
            <a:ext cx="11049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1">
                <a:solidFill>
                  <a:srgbClr val="4472C4"/>
                </a:solidFill>
              </a:defRPr>
            </a:defPPr>
          </a:lstStyle>
          <a:p xmlns:a="http://schemas.openxmlformats.org/drawingml/2006/main">
            <a:pPr>
              <a:buNone/>
              <a:defRPr sz="1800" b="1">
                <a:solidFill>
                  <a:srgbClr val="4472C4"/>
                </a:solidFill>
              </a:defRPr>
            </a:pPr>
            <a:r>
              <a:rPr sz="1800" b="1">
                <a:solidFill>
                  <a:srgbClr val="4472C4"/>
                </a:solidFill>
              </a:rPr>
              <a:t/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D928E72-E0F9-42CD-A371-5EFBC30BB2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809750"/>
            <a:ext cx="10858500" cy="419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0">
                <a:solidFill>
                  <a:srgbClr val="333333"/>
                </a:solidFill>
              </a:defRPr>
            </a:defPPr>
          </a:lstStyle>
          <a:p xmlns:a="http://schemas.openxmlformats.org/drawingml/2006/main">
            <a:pPr>
              <a:buNone/>
              <a:defRPr sz="2100" b="0">
                <a:solidFill>
                  <a:srgbClr val="333333"/>
                </a:solidFill>
              </a:defRPr>
            </a:pPr>
            <a:r>
              <a:rPr sz="2100" b="0">
                <a:solidFill>
                  <a:srgbClr val="333333"/>
                </a:solidFill>
              </a:rPr>
              <a:t>I kept the layout simple so the main results are easy to read.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buNone/>
              <a:defRPr sz="2100" b="0">
                <a:solidFill>
                  <a:srgbClr val="333333"/>
                </a:solidFill>
              </a:defRPr>
            </a:pPr>
            <a:r>
              <a:rPr sz="2100" b="0">
                <a:solidFill>
                  <a:srgbClr val="333333"/>
                </a:solidFill>
              </a:rPr>
              <a:t>KPI cards sit at the top, with the comparison charts below. Slicers stay together on one side.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buNone/>
              <a:defRPr sz="2100" b="0">
                <a:solidFill>
                  <a:srgbClr val="333333"/>
                </a:solidFill>
              </a:defRPr>
            </a:pPr>
            <a:r>
              <a:rPr sz="2100" b="0">
                <a:solidFill>
                  <a:srgbClr val="333333"/>
                </a:solidFill>
              </a:rPr>
              <a:t>Blue represents Churn = No. Orange represents Churn = Yes.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buNone/>
              <a:defRPr sz="2100" b="0">
                <a:solidFill>
                  <a:srgbClr val="333333"/>
                </a:solidFill>
              </a:defRPr>
            </a:pPr>
            <a:r>
              <a:rPr sz="2100" b="0">
                <a:solidFill>
                  <a:srgbClr val="333333"/>
                </a:solidFill>
              </a:rPr>
              <a:t>Each chart has a clear title and readable labels.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8226C13-E63B-4796-9BC7-6FCA0621A7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6419850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777777"/>
                </a:solidFill>
              </a:defRPr>
            </a:defPPr>
          </a:lstStyle>
          <a:p xmlns:a="http://schemas.openxmlformats.org/drawingml/2006/main">
            <a:pPr>
              <a:buNone/>
              <a:defRPr sz="1200" b="0">
                <a:solidFill>
                  <a:srgbClr val="777777"/>
                </a:solidFill>
              </a:defRPr>
            </a:pPr>
            <a:r>
              <a:rPr sz="1200" b="0">
                <a:solidFill>
                  <a:srgbClr val="777777"/>
                </a:solidFill>
              </a:rPr>
              <a:t>22</a:t>
            </a:r>
          </a:p>
        </p:txBody>
      </p:sp>
    </p:spTree>
    <p:extLst>
      <p:ext uri="{BB962C8B-B14F-4D97-AF65-F5344CB8AC3E}">
        <p14:creationId xmlns:p14="http://schemas.microsoft.com/office/powerpoint/2010/main" val="1229090247"/>
      </p:ext>
    </p:extLst>
  </p:cSld>
</p:sld>
</file>

<file path=ppt/slides/slide2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A8A53C4-BE03-4AB2-ABE4-1B6557B932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81000"/>
            <a:ext cx="110490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850" b="1">
                <a:solidFill>
                  <a:srgbClr val="203864"/>
                </a:solidFill>
              </a:defRPr>
            </a:defPPr>
          </a:lstStyle>
          <a:p xmlns:a="http://schemas.openxmlformats.org/drawingml/2006/main">
            <a:pPr>
              <a:buNone/>
              <a:defRPr sz="2850" b="1">
                <a:solidFill>
                  <a:srgbClr val="203864"/>
                </a:solidFill>
              </a:defRPr>
            </a:pPr>
            <a:r>
              <a:rPr sz="2850" b="1">
                <a:solidFill>
                  <a:srgbClr val="203864"/>
                </a:solidFill>
              </a:rPr>
              <a:t>Customer churn overview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A5EDE0D-5C8A-442C-A569-3C3ECA77A8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238250"/>
            <a:ext cx="11049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1">
                <a:solidFill>
                  <a:srgbClr val="4472C4"/>
                </a:solidFill>
              </a:defRPr>
            </a:defPPr>
          </a:lstStyle>
          <a:p xmlns:a="http://schemas.openxmlformats.org/drawingml/2006/main">
            <a:pPr>
              <a:buNone/>
              <a:defRPr sz="1800" b="1">
                <a:solidFill>
                  <a:srgbClr val="4472C4"/>
                </a:solidFill>
              </a:defRPr>
            </a:pPr>
            <a:r>
              <a:rPr sz="1800" b="1">
                <a:solidFill>
                  <a:srgbClr val="4472C4"/>
                </a:solidFill>
              </a:rPr>
              <a:t/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2514A93-E742-4536-AC26-6C8F627D8B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076450"/>
            <a:ext cx="2714625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475" b="1">
                <a:solidFill>
                  <a:srgbClr val="1F3864"/>
                </a:solidFill>
              </a:defRPr>
            </a:defPPr>
          </a:lstStyle>
          <a:p xmlns:a="http://schemas.openxmlformats.org/drawingml/2006/main">
            <a:pPr>
              <a:buNone/>
              <a:defRPr sz="2475" b="1">
                <a:solidFill>
                  <a:srgbClr val="1F3864"/>
                </a:solidFill>
              </a:defRPr>
            </a:pPr>
            <a:r>
              <a:rPr sz="2475" b="1">
                <a:solidFill>
                  <a:srgbClr val="1F3864"/>
                </a:solidFill>
              </a:rPr>
              <a:t>500</a:t>
            </a:r>
          </a:p>
          <a:p xmlns:a="http://schemas.openxmlformats.org/drawingml/2006/main">
            <a:pPr>
              <a:buNone/>
              <a:defRPr sz="2475" b="1">
                <a:solidFill>
                  <a:srgbClr val="1F3864"/>
                </a:solidFill>
              </a:defRPr>
            </a:pPr>
            <a:r>
              <a:rPr sz="2475" b="1">
                <a:solidFill>
                  <a:srgbClr val="1F3864"/>
                </a:solidFill>
              </a:rPr>
              <a:t>Customers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5E92002-40B1-459D-833F-3274EB6B00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2076450"/>
            <a:ext cx="2714625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475" b="1">
                <a:solidFill>
                  <a:srgbClr val="1F3864"/>
                </a:solidFill>
              </a:defRPr>
            </a:defPPr>
          </a:lstStyle>
          <a:p xmlns:a="http://schemas.openxmlformats.org/drawingml/2006/main">
            <a:pPr>
              <a:buNone/>
              <a:defRPr sz="2475" b="1">
                <a:solidFill>
                  <a:srgbClr val="1F3864"/>
                </a:solidFill>
              </a:defRPr>
            </a:pPr>
            <a:r>
              <a:rPr sz="2475" b="1">
                <a:solidFill>
                  <a:srgbClr val="1F3864"/>
                </a:solidFill>
              </a:rPr>
              <a:t>122</a:t>
            </a:r>
          </a:p>
          <a:p xmlns:a="http://schemas.openxmlformats.org/drawingml/2006/main">
            <a:pPr>
              <a:buNone/>
              <a:defRPr sz="2475" b="1">
                <a:solidFill>
                  <a:srgbClr val="1F3864"/>
                </a:solidFill>
              </a:defRPr>
            </a:pPr>
            <a:r>
              <a:rPr sz="2475" b="1">
                <a:solidFill>
                  <a:srgbClr val="1F3864"/>
                </a:solidFill>
              </a:rPr>
              <a:t>Churned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8128E89-A3ED-4299-B321-B496990C29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076450"/>
            <a:ext cx="2714625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475" b="1">
                <a:solidFill>
                  <a:srgbClr val="1F3864"/>
                </a:solidFill>
              </a:defRPr>
            </a:defPPr>
          </a:lstStyle>
          <a:p xmlns:a="http://schemas.openxmlformats.org/drawingml/2006/main">
            <a:pPr>
              <a:buNone/>
              <a:defRPr sz="2475" b="1">
                <a:solidFill>
                  <a:srgbClr val="1F3864"/>
                </a:solidFill>
              </a:defRPr>
            </a:pPr>
            <a:r>
              <a:rPr sz="2475" b="1">
                <a:solidFill>
                  <a:srgbClr val="1F3864"/>
                </a:solidFill>
              </a:rPr>
              <a:t>24.4%</a:t>
            </a:r>
          </a:p>
          <a:p xmlns:a="http://schemas.openxmlformats.org/drawingml/2006/main">
            <a:pPr>
              <a:buNone/>
              <a:defRPr sz="2475" b="1">
                <a:solidFill>
                  <a:srgbClr val="1F3864"/>
                </a:solidFill>
              </a:defRPr>
            </a:pPr>
            <a:r>
              <a:rPr sz="2475" b="1">
                <a:solidFill>
                  <a:srgbClr val="1F3864"/>
                </a:solidFill>
              </a:rPr>
              <a:t>Churn rate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FFE3289-45D7-4C4A-A360-A6235AD601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2076450"/>
            <a:ext cx="2714625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475" b="1">
                <a:solidFill>
                  <a:srgbClr val="1F3864"/>
                </a:solidFill>
              </a:defRPr>
            </a:defPPr>
          </a:lstStyle>
          <a:p xmlns:a="http://schemas.openxmlformats.org/drawingml/2006/main">
            <a:pPr>
              <a:buNone/>
              <a:defRPr sz="2475" b="1">
                <a:solidFill>
                  <a:srgbClr val="1F3864"/>
                </a:solidFill>
              </a:defRPr>
            </a:pPr>
            <a:r>
              <a:rPr sz="2475" b="1">
                <a:solidFill>
                  <a:srgbClr val="1F3864"/>
                </a:solidFill>
              </a:rPr>
              <a:t>3.02</a:t>
            </a:r>
          </a:p>
          <a:p xmlns:a="http://schemas.openxmlformats.org/drawingml/2006/main">
            <a:pPr>
              <a:buNone/>
              <a:defRPr sz="2475" b="1">
                <a:solidFill>
                  <a:srgbClr val="1F3864"/>
                </a:solidFill>
              </a:defRPr>
            </a:pPr>
            <a:r>
              <a:rPr sz="2475" b="1">
                <a:solidFill>
                  <a:srgbClr val="1F3864"/>
                </a:solidFill>
              </a:rPr>
              <a:t>Satisfaction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37C683D-6F72-49F0-8580-9AE6D2F55E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096000"/>
            <a:ext cx="4953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1">
                <a:solidFill>
                  <a:srgbClr val="4472C4"/>
                </a:solidFill>
              </a:defRPr>
            </a:defPPr>
          </a:lstStyle>
          <a:p xmlns:a="http://schemas.openxmlformats.org/drawingml/2006/main">
            <a:pPr>
              <a:buNone/>
              <a:defRPr sz="1725" b="1">
                <a:solidFill>
                  <a:srgbClr val="4472C4"/>
                </a:solidFill>
              </a:defRPr>
            </a:pPr>
            <a:r>
              <a:rPr sz="1725" b="1">
                <a:solidFill>
                  <a:srgbClr val="4472C4"/>
                </a:solidFill>
              </a:rPr>
              <a:t>Gender comparison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BE1D34F-90A7-496D-AF1A-A78CC136DD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6096000"/>
            <a:ext cx="5238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1">
                <a:solidFill>
                  <a:srgbClr val="4472C4"/>
                </a:solidFill>
              </a:defRPr>
            </a:defPPr>
          </a:lstStyle>
          <a:p xmlns:a="http://schemas.openxmlformats.org/drawingml/2006/main">
            <a:pPr>
              <a:buNone/>
              <a:defRPr sz="1725" b="1">
                <a:solidFill>
                  <a:srgbClr val="4472C4"/>
                </a:solidFill>
              </a:defRPr>
            </a:pPr>
            <a:r>
              <a:rPr sz="1725" b="1">
                <a:solidFill>
                  <a:srgbClr val="4472C4"/>
                </a:solidFill>
              </a:rPr>
              <a:t>Satisfaction comparison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B1C23EE-7BA2-4816-A7BE-085A950E45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6419850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777777"/>
                </a:solidFill>
              </a:defRPr>
            </a:defPPr>
          </a:lstStyle>
          <a:p xmlns:a="http://schemas.openxmlformats.org/drawingml/2006/main">
            <a:pPr>
              <a:buNone/>
              <a:defRPr sz="1200" b="0">
                <a:solidFill>
                  <a:srgbClr val="777777"/>
                </a:solidFill>
              </a:defRPr>
            </a:pPr>
            <a:r>
              <a:rPr sz="1200" b="0">
                <a:solidFill>
                  <a:srgbClr val="777777"/>
                </a:solidFill>
              </a:rPr>
              <a:t>23</a:t>
            </a:r>
          </a:p>
        </p:txBody>
      </p:sp>
      <p:graphicFrame>
        <p:nvGraphicFramePr>
          <p:cNvPr id="13" name="Chart">
            <a:extLst xmlns:a="http://schemas.openxmlformats.org/drawingml/2006/main">
              <a:ext uri="{FF2B5EF4-FFF2-40B4-BE49-F238E27FC236}">
                <a16:creationId xmlns:a16="http://schemas.microsoft.com/office/drawing/2014/main" id="{024B04EE-1843-4B91-9D5D-9F85FDDE5585}"/>
              </a:ext>
            </a:extLst>
          </p:cNvPr>
          <p:cNvGraphicFramePr/>
          <p:nvPr/>
        </p:nvGraphicFramePr>
        <p:xfrm>
          <a:off xmlns:a="http://schemas.openxmlformats.org/drawingml/2006/main" x="571500" y="3333750"/>
          <a:ext xmlns:a="http://schemas.openxmlformats.org/drawingml/2006/main" cx="5143500" cy="261937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95b33727966f4f10"/>
          </a:graphicData>
        </a:graphic>
      </p:graphicFrame>
      <p:graphicFrame>
        <p:nvGraphicFramePr>
          <p:cNvPr id="14" name="Chart">
            <a:extLst xmlns:a="http://schemas.openxmlformats.org/drawingml/2006/main">
              <a:ext uri="{FF2B5EF4-FFF2-40B4-BE49-F238E27FC236}">
                <a16:creationId xmlns:a16="http://schemas.microsoft.com/office/drawing/2014/main" id="{63981B88-3CEA-42C0-8048-D3EE631CE1F6}"/>
              </a:ext>
            </a:extLst>
          </p:cNvPr>
          <p:cNvGraphicFramePr/>
          <p:nvPr/>
        </p:nvGraphicFramePr>
        <p:xfrm>
          <a:off xmlns:a="http://schemas.openxmlformats.org/drawingml/2006/main" x="6286500" y="3333750"/>
          <a:ext xmlns:a="http://schemas.openxmlformats.org/drawingml/2006/main" cx="5334000" cy="261937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37d0643814e04857"/>
          </a:graphicData>
        </a:graphic>
      </p:graphicFrame>
    </p:spTree>
    <p:extLst>
      <p:ext uri="{BB962C8B-B14F-4D97-AF65-F5344CB8AC3E}">
        <p14:creationId xmlns:p14="http://schemas.microsoft.com/office/powerpoint/2010/main" val="644495948"/>
      </p:ext>
    </p:extLst>
  </p:cSld>
</p:sld>
</file>

<file path=ppt/slides/slide2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5678C51-C7FD-4548-9788-A5342249FE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81000"/>
            <a:ext cx="110490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850" b="1">
                <a:solidFill>
                  <a:srgbClr val="203864"/>
                </a:solidFill>
              </a:defRPr>
            </a:defPPr>
          </a:lstStyle>
          <a:p xmlns:a="http://schemas.openxmlformats.org/drawingml/2006/main">
            <a:pPr>
              <a:buNone/>
              <a:defRPr sz="2850" b="1">
                <a:solidFill>
                  <a:srgbClr val="203864"/>
                </a:solidFill>
              </a:defRPr>
            </a:pPr>
            <a:r>
              <a:rPr sz="2850" b="1">
                <a:solidFill>
                  <a:srgbClr val="203864"/>
                </a:solidFill>
              </a:rPr>
              <a:t>City drillthrough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B79B241-7731-4802-BC98-67CE7BACB0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238250"/>
            <a:ext cx="11049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1">
                <a:solidFill>
                  <a:srgbClr val="4472C4"/>
                </a:solidFill>
              </a:defRPr>
            </a:defPPr>
          </a:lstStyle>
          <a:p xmlns:a="http://schemas.openxmlformats.org/drawingml/2006/main">
            <a:pPr>
              <a:buNone/>
              <a:defRPr sz="1800" b="1">
                <a:solidFill>
                  <a:srgbClr val="4472C4"/>
                </a:solidFill>
              </a:defRPr>
            </a:pPr>
            <a:r>
              <a:rPr sz="1800" b="1">
                <a:solidFill>
                  <a:srgbClr val="4472C4"/>
                </a:solidFill>
              </a:rPr>
              <a:t/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14E7DBF-DF8E-4C1B-85D7-293AECE4AB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809750"/>
            <a:ext cx="10858500" cy="419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0">
                <a:solidFill>
                  <a:srgbClr val="333333"/>
                </a:solidFill>
              </a:defRPr>
            </a:defPPr>
          </a:lstStyle>
          <a:p xmlns:a="http://schemas.openxmlformats.org/drawingml/2006/main">
            <a:pPr>
              <a:buNone/>
              <a:defRPr sz="2100" b="0">
                <a:solidFill>
                  <a:srgbClr val="333333"/>
                </a:solidFill>
              </a:defRPr>
            </a:pPr>
            <a:r>
              <a:rPr sz="2100" b="0">
                <a:solidFill>
                  <a:srgbClr val="333333"/>
                </a:solidFill>
              </a:rPr>
              <a:t>1. Add a new report page called City Details.</a:t>
            </a:r>
          </a:p>
          <a:p xmlns:a="http://schemas.openxmlformats.org/drawingml/2006/main">
            <a:pPr>
              <a:buNone/>
              <a:defRPr sz="2100" b="0">
                <a:solidFill>
                  <a:srgbClr val="333333"/>
                </a:solidFill>
              </a:defRPr>
            </a:pPr>
            <a:r>
              <a:rPr sz="2100" b="0">
                <a:solidFill>
                  <a:srgbClr val="333333"/>
                </a:solidFill>
              </a:rPr>
              <a:t>2. Add City to its Drillthrough field area.</a:t>
            </a:r>
          </a:p>
          <a:p xmlns:a="http://schemas.openxmlformats.org/drawingml/2006/main">
            <a:pPr>
              <a:buNone/>
              <a:defRPr sz="2100" b="0">
                <a:solidFill>
                  <a:srgbClr val="333333"/>
                </a:solidFill>
              </a:defRPr>
            </a:pPr>
            <a:r>
              <a:rPr sz="2100" b="0">
                <a:solidFill>
                  <a:srgbClr val="333333"/>
                </a:solidFill>
              </a:rPr>
              <a:t>3. Add detail charts or a customer table to that page.</a:t>
            </a:r>
          </a:p>
          <a:p xmlns:a="http://schemas.openxmlformats.org/drawingml/2006/main">
            <a:pPr>
              <a:buNone/>
              <a:defRPr sz="2100" b="0">
                <a:solidFill>
                  <a:srgbClr val="333333"/>
                </a:solidFill>
              </a:defRPr>
            </a:pPr>
            <a:r>
              <a:rPr sz="2100" b="0">
                <a:solidFill>
                  <a:srgbClr val="333333"/>
                </a:solidFill>
              </a:rPr>
              <a:t>4. On an overview City chart, right-click a city and choose Drillthrough &gt; City Details.</a:t>
            </a:r>
          </a:p>
          <a:p xmlns:a="http://schemas.openxmlformats.org/drawingml/2006/main">
            <a:pPr>
              <a:buNone/>
              <a:defRPr sz="2100" b="0">
                <a:solidFill>
                  <a:srgbClr val="333333"/>
                </a:solidFill>
              </a:defRPr>
            </a:pPr>
            <a:r>
              <a:rPr sz="2100" b="0">
                <a:solidFill>
                  <a:srgbClr val="333333"/>
                </a:solidFill>
              </a:rPr>
              <a:t>5. Use a Back button to return.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buNone/>
              <a:defRPr sz="2100" b="0">
                <a:solidFill>
                  <a:srgbClr val="333333"/>
                </a:solidFill>
              </a:defRPr>
            </a:pPr>
            <a:r>
              <a:rPr sz="2100" b="0">
                <a:solidFill>
                  <a:srgbClr val="333333"/>
                </a:solidFill>
              </a:rPr>
              <a:t>For the existing two PBIX files, combine pages into one report before using this within-report workflow.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A585664-A7C7-49CF-AEA3-3622624F8E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6419850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777777"/>
                </a:solidFill>
              </a:defRPr>
            </a:defPPr>
          </a:lstStyle>
          <a:p xmlns:a="http://schemas.openxmlformats.org/drawingml/2006/main">
            <a:pPr>
              <a:buNone/>
              <a:defRPr sz="1200" b="0">
                <a:solidFill>
                  <a:srgbClr val="777777"/>
                </a:solidFill>
              </a:defRPr>
            </a:pPr>
            <a:r>
              <a:rPr sz="1200" b="0">
                <a:solidFill>
                  <a:srgbClr val="777777"/>
                </a:solidFill>
              </a:rPr>
              <a:t>24</a:t>
            </a:r>
          </a:p>
        </p:txBody>
      </p:sp>
    </p:spTree>
    <p:extLst>
      <p:ext uri="{BB962C8B-B14F-4D97-AF65-F5344CB8AC3E}">
        <p14:creationId xmlns:p14="http://schemas.microsoft.com/office/powerpoint/2010/main" val="451400939"/>
      </p:ext>
    </p:extLst>
  </p:cSld>
</p:sld>
</file>

<file path=ppt/slides/slide2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9379A49-FB4A-4D8C-938A-00508D6394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81000"/>
            <a:ext cx="110490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850" b="1">
                <a:solidFill>
                  <a:srgbClr val="203864"/>
                </a:solidFill>
              </a:defRPr>
            </a:defPPr>
          </a:lstStyle>
          <a:p xmlns:a="http://schemas.openxmlformats.org/drawingml/2006/main">
            <a:pPr>
              <a:buNone/>
              <a:defRPr sz="2850" b="1">
                <a:solidFill>
                  <a:srgbClr val="203864"/>
                </a:solidFill>
              </a:defRPr>
            </a:pPr>
            <a:r>
              <a:rPr sz="2850" b="1">
                <a:solidFill>
                  <a:srgbClr val="203864"/>
                </a:solidFill>
              </a:rPr>
              <a:t>Checking the totals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473D0C1-8306-4B24-B637-3930C71797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238250"/>
            <a:ext cx="11049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1">
                <a:solidFill>
                  <a:srgbClr val="4472C4"/>
                </a:solidFill>
              </a:defRPr>
            </a:defPPr>
          </a:lstStyle>
          <a:p xmlns:a="http://schemas.openxmlformats.org/drawingml/2006/main">
            <a:pPr>
              <a:buNone/>
              <a:defRPr sz="1800" b="1">
                <a:solidFill>
                  <a:srgbClr val="4472C4"/>
                </a:solidFill>
              </a:defRPr>
            </a:pPr>
            <a:r>
              <a:rPr sz="1800" b="1">
                <a:solidFill>
                  <a:srgbClr val="4472C4"/>
                </a:solidFill>
              </a:rPr>
              <a:t/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1419858-4BAB-45B5-8C7A-6FD83187FA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809750"/>
            <a:ext cx="10858500" cy="419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0">
                <a:solidFill>
                  <a:srgbClr val="333333"/>
                </a:solidFill>
              </a:defRPr>
            </a:defPPr>
          </a:lstStyle>
          <a:p xmlns:a="http://schemas.openxmlformats.org/drawingml/2006/main">
            <a:pPr>
              <a:buNone/>
              <a:defRPr sz="2100" b="0">
                <a:solidFill>
                  <a:srgbClr val="333333"/>
                </a:solidFill>
              </a:defRPr>
            </a:pPr>
            <a:r>
              <a:rPr sz="2100" b="0">
                <a:solidFill>
                  <a:srgbClr val="333333"/>
                </a:solidFill>
              </a:rPr>
              <a:t>Total Customers = 500</a:t>
            </a:r>
          </a:p>
          <a:p xmlns:a="http://schemas.openxmlformats.org/drawingml/2006/main">
            <a:pPr>
              <a:buNone/>
              <a:defRPr sz="2100" b="0">
                <a:solidFill>
                  <a:srgbClr val="333333"/>
                </a:solidFill>
              </a:defRPr>
            </a:pPr>
            <a:r>
              <a:rPr sz="2100" b="0">
                <a:solidFill>
                  <a:srgbClr val="333333"/>
                </a:solidFill>
              </a:rPr>
              <a:t>Churned Customers = 122</a:t>
            </a:r>
          </a:p>
          <a:p xmlns:a="http://schemas.openxmlformats.org/drawingml/2006/main">
            <a:pPr>
              <a:buNone/>
              <a:defRPr sz="2100" b="0">
                <a:solidFill>
                  <a:srgbClr val="333333"/>
                </a:solidFill>
              </a:defRPr>
            </a:pPr>
            <a:r>
              <a:rPr sz="2100" b="0">
                <a:solidFill>
                  <a:srgbClr val="333333"/>
                </a:solidFill>
              </a:rPr>
              <a:t>Customers with Churn = No = 378</a:t>
            </a:r>
          </a:p>
          <a:p xmlns:a="http://schemas.openxmlformats.org/drawingml/2006/main">
            <a:pPr>
              <a:buNone/>
              <a:defRPr sz="2100" b="0">
                <a:solidFill>
                  <a:srgbClr val="333333"/>
                </a:solidFill>
              </a:defRPr>
            </a:pPr>
            <a:r>
              <a:rPr sz="2100" b="0">
                <a:solidFill>
                  <a:srgbClr val="333333"/>
                </a:solidFill>
              </a:rPr>
              <a:t>Churn Rate = 122 / 500 = 24.4%</a:t>
            </a:r>
          </a:p>
          <a:p xmlns:a="http://schemas.openxmlformats.org/drawingml/2006/main">
            <a:pPr>
              <a:buNone/>
              <a:defRPr sz="2100" b="0">
                <a:solidFill>
                  <a:srgbClr val="333333"/>
                </a:solidFill>
              </a:defRPr>
            </a:pPr>
            <a:r>
              <a:rPr sz="2100" b="0">
                <a:solidFill>
                  <a:srgbClr val="333333"/>
                </a:solidFill>
              </a:rPr>
              <a:t>Average Satisfaction = 3.02</a:t>
            </a:r>
          </a:p>
          <a:p xmlns:a="http://schemas.openxmlformats.org/drawingml/2006/main">
            <a:pPr>
              <a:buNone/>
              <a:defRPr sz="2100" b="0">
                <a:solidFill>
                  <a:srgbClr val="333333"/>
                </a:solidFill>
              </a:defRPr>
            </a:pPr>
            <a:r>
              <a:rPr sz="2100" b="0">
                <a:solidFill>
                  <a:srgbClr val="333333"/>
                </a:solidFill>
              </a:rPr>
              <a:t>Total Sales = 4,493,600</a:t>
            </a:r>
          </a:p>
          <a:p xmlns:a="http://schemas.openxmlformats.org/drawingml/2006/main">
            <a:pPr>
              <a:buNone/>
              <a:defRPr sz="2100" b="0">
                <a:solidFill>
                  <a:srgbClr val="333333"/>
                </a:solidFill>
              </a:defRPr>
            </a:pPr>
            <a:r>
              <a:rPr sz="2100" b="0">
                <a:solidFill>
                  <a:srgbClr val="333333"/>
                </a:solidFill>
              </a:rPr>
              <a:t>Total Orders = 5,135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buNone/>
              <a:defRPr sz="2100" b="0">
                <a:solidFill>
                  <a:srgbClr val="333333"/>
                </a:solidFill>
              </a:defRPr>
            </a:pPr>
            <a:r>
              <a:rPr sz="2100" b="0">
                <a:solidFill>
                  <a:srgbClr val="333333"/>
                </a:solidFill>
              </a:rPr>
              <a:t>Test a slicer selection, then clear it and confirm these totals return.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7B2B21A-764F-48F9-BD6E-2ECD7118DA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6419850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777777"/>
                </a:solidFill>
              </a:defRPr>
            </a:defPPr>
          </a:lstStyle>
          <a:p xmlns:a="http://schemas.openxmlformats.org/drawingml/2006/main">
            <a:pPr>
              <a:buNone/>
              <a:defRPr sz="1200" b="0">
                <a:solidFill>
                  <a:srgbClr val="777777"/>
                </a:solidFill>
              </a:defRPr>
            </a:pPr>
            <a:r>
              <a:rPr sz="1200" b="0">
                <a:solidFill>
                  <a:srgbClr val="777777"/>
                </a:solidFill>
              </a:rPr>
              <a:t>25</a:t>
            </a:r>
          </a:p>
        </p:txBody>
      </p:sp>
    </p:spTree>
    <p:extLst>
      <p:ext uri="{BB962C8B-B14F-4D97-AF65-F5344CB8AC3E}">
        <p14:creationId xmlns:p14="http://schemas.microsoft.com/office/powerpoint/2010/main" val="1884384408"/>
      </p:ext>
    </p:extLst>
  </p:cSld>
</p:sld>
</file>

<file path=ppt/slides/slide2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F2DE7AB-A256-4104-BCD4-37495BFB76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81000"/>
            <a:ext cx="110490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850" b="1">
                <a:solidFill>
                  <a:srgbClr val="203864"/>
                </a:solidFill>
              </a:defRPr>
            </a:defPPr>
          </a:lstStyle>
          <a:p xmlns:a="http://schemas.openxmlformats.org/drawingml/2006/main">
            <a:pPr>
              <a:buNone/>
              <a:defRPr sz="2850" b="1">
                <a:solidFill>
                  <a:srgbClr val="203864"/>
                </a:solidFill>
              </a:defRPr>
            </a:pPr>
            <a:r>
              <a:rPr sz="2850" b="1">
                <a:solidFill>
                  <a:srgbClr val="203864"/>
                </a:solidFill>
              </a:rPr>
              <a:t>Presenting the report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A24DD99-DC98-41AD-96A6-0B441FBE9C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238250"/>
            <a:ext cx="11049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1">
                <a:solidFill>
                  <a:srgbClr val="4472C4"/>
                </a:solidFill>
              </a:defRPr>
            </a:defPPr>
          </a:lstStyle>
          <a:p xmlns:a="http://schemas.openxmlformats.org/drawingml/2006/main">
            <a:pPr>
              <a:buNone/>
              <a:defRPr sz="1800" b="1">
                <a:solidFill>
                  <a:srgbClr val="4472C4"/>
                </a:solidFill>
              </a:defRPr>
            </a:pPr>
            <a:r>
              <a:rPr sz="1800" b="1">
                <a:solidFill>
                  <a:srgbClr val="4472C4"/>
                </a:solidFill>
              </a:rPr>
              <a:t/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51285FA-A4E6-4AEE-860B-E807849A4B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809750"/>
            <a:ext cx="10858500" cy="419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0">
                <a:solidFill>
                  <a:srgbClr val="333333"/>
                </a:solidFill>
              </a:defRPr>
            </a:defPPr>
          </a:lstStyle>
          <a:p xmlns:a="http://schemas.openxmlformats.org/drawingml/2006/main">
            <a:pPr>
              <a:buNone/>
              <a:defRPr sz="2100" b="0">
                <a:solidFill>
                  <a:srgbClr val="333333"/>
                </a:solidFill>
              </a:defRPr>
            </a:pPr>
            <a:r>
              <a:rPr sz="2100" b="0">
                <a:solidFill>
                  <a:srgbClr val="333333"/>
                </a:solidFill>
              </a:rPr>
              <a:t>1. Save the report as a PBIX file.</a:t>
            </a:r>
          </a:p>
          <a:p xmlns:a="http://schemas.openxmlformats.org/drawingml/2006/main">
            <a:pPr>
              <a:buNone/>
              <a:defRPr sz="2100" b="0">
                <a:solidFill>
                  <a:srgbClr val="333333"/>
                </a:solidFill>
              </a:defRPr>
            </a:pPr>
            <a:r>
              <a:rPr sz="2100" b="0">
                <a:solidFill>
                  <a:srgbClr val="333333"/>
                </a:solidFill>
              </a:rPr>
              <a:t>2. Explain the source: 500 customer records from the supplied Excel file.</a:t>
            </a:r>
          </a:p>
          <a:p xmlns:a="http://schemas.openxmlformats.org/drawingml/2006/main">
            <a:pPr>
              <a:buNone/>
              <a:defRPr sz="2100" b="0">
                <a:solidFill>
                  <a:srgbClr val="333333"/>
                </a:solidFill>
              </a:defRPr>
            </a:pPr>
            <a:r>
              <a:rPr sz="2100" b="0">
                <a:solidFill>
                  <a:srgbClr val="333333"/>
                </a:solidFill>
              </a:rPr>
              <a:t>3. Show the KPI cards, then explain one comparison chart.</a:t>
            </a:r>
          </a:p>
          <a:p xmlns:a="http://schemas.openxmlformats.org/drawingml/2006/main">
            <a:pPr>
              <a:buNone/>
              <a:defRPr sz="2100" b="0">
                <a:solidFill>
                  <a:srgbClr val="333333"/>
                </a:solidFill>
              </a:defRPr>
            </a:pPr>
            <a:r>
              <a:rPr sz="2100" b="0">
                <a:solidFill>
                  <a:srgbClr val="333333"/>
                </a:solidFill>
              </a:rPr>
              <a:t>4. Select a City slicer to demonstrate interactivity.</a:t>
            </a:r>
          </a:p>
          <a:p xmlns:a="http://schemas.openxmlformats.org/drawingml/2006/main">
            <a:pPr>
              <a:buNone/>
              <a:defRPr sz="2100" b="0">
                <a:solidFill>
                  <a:srgbClr val="333333"/>
                </a:solidFill>
              </a:defRPr>
            </a:pPr>
            <a:r>
              <a:rPr sz="2100" b="0">
                <a:solidFill>
                  <a:srgbClr val="333333"/>
                </a:solidFill>
              </a:rPr>
              <a:t>5. Clear it and summarize the results.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buNone/>
              <a:defRPr sz="2100" b="0">
                <a:solidFill>
                  <a:srgbClr val="333333"/>
                </a:solidFill>
              </a:defRPr>
            </a:pPr>
            <a:r>
              <a:rPr sz="2100" b="0">
                <a:solidFill>
                  <a:srgbClr val="333333"/>
                </a:solidFill>
              </a:rPr>
              <a:t>This report describes existing churn. Predicting future churn requires a separate model and evaluation.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F330E10-53EA-4334-B9E1-B9E893A6DD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6419850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777777"/>
                </a:solidFill>
              </a:defRPr>
            </a:defPPr>
          </a:lstStyle>
          <a:p xmlns:a="http://schemas.openxmlformats.org/drawingml/2006/main">
            <a:pPr>
              <a:buNone/>
              <a:defRPr sz="1200" b="0">
                <a:solidFill>
                  <a:srgbClr val="777777"/>
                </a:solidFill>
              </a:defRPr>
            </a:pPr>
            <a:r>
              <a:rPr sz="1200" b="0">
                <a:solidFill>
                  <a:srgbClr val="777777"/>
                </a:solidFill>
              </a:rPr>
              <a:t>26</a:t>
            </a:r>
          </a:p>
        </p:txBody>
      </p:sp>
    </p:spTree>
    <p:extLst>
      <p:ext uri="{BB962C8B-B14F-4D97-AF65-F5344CB8AC3E}">
        <p14:creationId xmlns:p14="http://schemas.microsoft.com/office/powerpoint/2010/main" val="1361716598"/>
      </p:ext>
    </p:extLst>
  </p:cSld>
</p:sld>
</file>

<file path=ppt/slides/slide2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4811B9A-6B15-4CFB-BFAB-DF713D259C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81000"/>
            <a:ext cx="110490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850" b="1">
                <a:solidFill>
                  <a:srgbClr val="203864"/>
                </a:solidFill>
              </a:defRPr>
            </a:defPPr>
          </a:lstStyle>
          <a:p xmlns:a="http://schemas.openxmlformats.org/drawingml/2006/main">
            <a:pPr>
              <a:buNone/>
              <a:defRPr sz="2850" b="1">
                <a:solidFill>
                  <a:srgbClr val="203864"/>
                </a:solidFill>
              </a:defRPr>
            </a:pPr>
            <a:r>
              <a:rPr sz="2850" b="1">
                <a:solidFill>
                  <a:srgbClr val="203864"/>
                </a:solidFill>
              </a:rPr>
              <a:t>What the data shows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8E636DF-AB5A-4750-8640-7BB95E87D0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238250"/>
            <a:ext cx="11049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1">
                <a:solidFill>
                  <a:srgbClr val="4472C4"/>
                </a:solidFill>
              </a:defRPr>
            </a:defPPr>
          </a:lstStyle>
          <a:p xmlns:a="http://schemas.openxmlformats.org/drawingml/2006/main">
            <a:pPr>
              <a:buNone/>
              <a:defRPr sz="1800" b="1">
                <a:solidFill>
                  <a:srgbClr val="4472C4"/>
                </a:solidFill>
              </a:defRPr>
            </a:pPr>
            <a:r>
              <a:rPr sz="1800" b="1">
                <a:solidFill>
                  <a:srgbClr val="4472C4"/>
                </a:solidFill>
              </a:rPr>
              <a:t/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08928BA-F7D2-43D2-A23C-8FF123727D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809750"/>
            <a:ext cx="10858500" cy="419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0">
                <a:solidFill>
                  <a:srgbClr val="333333"/>
                </a:solidFill>
              </a:defRPr>
            </a:defPPr>
          </a:lstStyle>
          <a:p xmlns:a="http://schemas.openxmlformats.org/drawingml/2006/main">
            <a:pPr>
              <a:buNone/>
              <a:defRPr sz="2100" b="0">
                <a:solidFill>
                  <a:srgbClr val="333333"/>
                </a:solidFill>
              </a:defRPr>
            </a:pPr>
            <a:r>
              <a:rPr sz="2100" b="0">
                <a:solidFill>
                  <a:srgbClr val="333333"/>
                </a:solidFill>
              </a:rPr>
              <a:t>122 of the 500 customers are marked as churned. The overall churn rate is 24.4%.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buNone/>
              <a:defRPr sz="2100" b="0">
                <a:solidFill>
                  <a:srgbClr val="333333"/>
                </a:solidFill>
              </a:defRPr>
            </a:pPr>
            <a:r>
              <a:rPr sz="2100" b="0">
                <a:solidFill>
                  <a:srgbClr val="333333"/>
                </a:solidFill>
              </a:rPr>
              <a:t>Both genders have 61 churned customers. Their churn rates differ because their group sizes differ: Female 22.3% and Male 26.9%.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buNone/>
              <a:defRPr sz="2100" b="0">
                <a:solidFill>
                  <a:srgbClr val="333333"/>
                </a:solidFill>
              </a:defRPr>
            </a:pPr>
            <a:r>
              <a:rPr sz="2100" b="0">
                <a:solidFill>
                  <a:srgbClr val="333333"/>
                </a:solidFill>
              </a:rPr>
              <a:t>New customers have a churn rate of 24.8%, compared with 23.9% for Returning customers.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buNone/>
              <a:defRPr sz="2100" b="0">
                <a:solidFill>
                  <a:srgbClr val="333333"/>
                </a:solidFill>
              </a:defRPr>
            </a:pPr>
            <a:r>
              <a:rPr sz="2100" b="0">
                <a:solidFill>
                  <a:srgbClr val="333333"/>
                </a:solidFill>
              </a:rPr>
              <a:t>These comparisons describe the dataset. They do not explain the reasons for churn.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2E12B48-63E3-466D-882C-8E959737B2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6419850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777777"/>
                </a:solidFill>
              </a:defRPr>
            </a:defPPr>
          </a:lstStyle>
          <a:p xmlns:a="http://schemas.openxmlformats.org/drawingml/2006/main">
            <a:pPr>
              <a:buNone/>
              <a:defRPr sz="1200" b="0">
                <a:solidFill>
                  <a:srgbClr val="777777"/>
                </a:solidFill>
              </a:defRPr>
            </a:pPr>
            <a:r>
              <a:rPr sz="1200" b="0">
                <a:solidFill>
                  <a:srgbClr val="777777"/>
                </a:solidFill>
              </a:rPr>
              <a:t>27</a:t>
            </a:r>
          </a:p>
        </p:txBody>
      </p:sp>
    </p:spTree>
    <p:extLst>
      <p:ext uri="{BB962C8B-B14F-4D97-AF65-F5344CB8AC3E}">
        <p14:creationId xmlns:p14="http://schemas.microsoft.com/office/powerpoint/2010/main" val="669063180"/>
      </p:ext>
    </p:extLst>
  </p:cSld>
</p:sld>
</file>

<file path=ppt/slides/slide2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C823B94-1175-40AC-948D-09048D6B6D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81000"/>
            <a:ext cx="110490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850" b="1">
                <a:solidFill>
                  <a:srgbClr val="203864"/>
                </a:solidFill>
              </a:defRPr>
            </a:defPPr>
          </a:lstStyle>
          <a:p xmlns:a="http://schemas.openxmlformats.org/drawingml/2006/main">
            <a:pPr>
              <a:buNone/>
              <a:defRPr sz="2850" b="1">
                <a:solidFill>
                  <a:srgbClr val="203864"/>
                </a:solidFill>
              </a:defRPr>
            </a:pPr>
            <a:r>
              <a:rPr sz="2850" b="1">
                <a:solidFill>
                  <a:srgbClr val="203864"/>
                </a:solidFill>
              </a:rPr>
              <a:t>Data source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177D42F-1780-4200-9152-F25B05A08F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238250"/>
            <a:ext cx="11049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1">
                <a:solidFill>
                  <a:srgbClr val="4472C4"/>
                </a:solidFill>
              </a:defRPr>
            </a:defPPr>
          </a:lstStyle>
          <a:p xmlns:a="http://schemas.openxmlformats.org/drawingml/2006/main">
            <a:pPr>
              <a:buNone/>
              <a:defRPr sz="1800" b="1">
                <a:solidFill>
                  <a:srgbClr val="4472C4"/>
                </a:solidFill>
              </a:defRPr>
            </a:pPr>
            <a:r>
              <a:rPr sz="1800" b="1">
                <a:solidFill>
                  <a:srgbClr val="4472C4"/>
                </a:solidFill>
              </a:rPr>
              <a:t/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825B0AB-A2D5-4B5F-9E8C-433D57F6C4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809750"/>
            <a:ext cx="10858500" cy="419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0">
                <a:solidFill>
                  <a:srgbClr val="333333"/>
                </a:solidFill>
              </a:defRPr>
            </a:defPPr>
          </a:lstStyle>
          <a:p xmlns:a="http://schemas.openxmlformats.org/drawingml/2006/main">
            <a:pPr>
              <a:buNone/>
              <a:defRPr sz="2100" b="0">
                <a:solidFill>
                  <a:srgbClr val="333333"/>
                </a:solidFill>
              </a:defRPr>
            </a:pPr>
            <a:r>
              <a:rPr sz="2100" b="0">
                <a:solidFill>
                  <a:srgbClr val="333333"/>
                </a:solidFill>
              </a:rPr>
              <a:t>Customer_Churn_Sales_Data_500(2).xlsx</a:t>
            </a:r>
          </a:p>
          <a:p xmlns:a="http://schemas.openxmlformats.org/drawingml/2006/main">
            <a:pPr>
              <a:buNone/>
              <a:defRPr sz="2100" b="0">
                <a:solidFill>
                  <a:srgbClr val="333333"/>
                </a:solidFill>
              </a:defRPr>
            </a:pPr>
            <a:r>
              <a:rPr sz="2100" b="0">
                <a:solidFill>
                  <a:srgbClr val="333333"/>
                </a:solidFill>
              </a:rPr>
              <a:t>Worksheet: Sheet1</a:t>
            </a:r>
          </a:p>
          <a:p xmlns:a="http://schemas.openxmlformats.org/drawingml/2006/main">
            <a:pPr>
              <a:defRPr sz="2100">
                <a:solidFill>
                  <a:srgbClr val="333333"/>
                </a:solidFill>
              </a:defRPr>
            </a:pPr>
            <a:r>
              <a:rPr sz="2100">
                <a:solidFill>
                  <a:srgbClr val="333333"/>
                </a:solidFill>
              </a:rPr>
              <a:t>500 customer records and 19 columns</a:t>
            </a:r>
          </a:p>
          <a:p xmlns:a="http://schemas.openxmlformats.org/drawingml/2006/main">
            <a:pPr>
              <a:buNone/>
              <a:defRPr sz="2175" b="0">
                <a:solidFill>
                  <a:srgbClr val="333333"/>
                </a:solidFill>
              </a:defRPr>
            </a:pPr>
            <a:r>
              <a:rPr sz="2175" b="0">
                <a:solidFill>
                  <a:srgbClr val="333333"/>
                </a:solidFill>
              </a:rPr>
              <a:t/>
            </a:r>
          </a:p>
          <a:p xmlns:a="http://schemas.openxmlformats.org/drawingml/2006/main">
            <a:pPr>
              <a:buNone/>
              <a:defRPr sz="2100" b="0">
                <a:solidFill>
                  <a:srgbClr val="333333"/>
                </a:solidFill>
              </a:defRPr>
            </a:pPr>
            <a:r>
              <a:rPr sz="2100" b="0">
                <a:solidFill>
                  <a:srgbClr val="333333"/>
                </a:solidFill>
              </a:rPr>
              <a:t>Report files: chr(1).pbix and churnnnnn(1).pbix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buNone/>
              <a:defRPr sz="2100" b="0">
                <a:solidFill>
                  <a:srgbClr val="333333"/>
                </a:solidFill>
              </a:defRPr>
            </a:pPr>
            <a:r>
              <a:rPr sz="2100" b="0">
                <a:solidFill>
                  <a:srgbClr val="333333"/>
                </a:solidFill>
              </a:rPr>
              <a:t>The Excel file supplies the data. The Power BI files provide the report structure used in this project.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F5E400B-C8F3-4E21-BE27-88C74E0DD0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6419850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777777"/>
                </a:solidFill>
              </a:defRPr>
            </a:defPPr>
          </a:lstStyle>
          <a:p xmlns:a="http://schemas.openxmlformats.org/drawingml/2006/main">
            <a:pPr>
              <a:buNone/>
              <a:defRPr sz="1200" b="0">
                <a:solidFill>
                  <a:srgbClr val="777777"/>
                </a:solidFill>
              </a:defRPr>
            </a:pPr>
            <a:r>
              <a:rPr sz="1200" b="0">
                <a:solidFill>
                  <a:srgbClr val="777777"/>
                </a:solidFill>
              </a:rPr>
              <a:t>28</a:t>
            </a:r>
          </a:p>
        </p:txBody>
      </p:sp>
    </p:spTree>
    <p:extLst>
      <p:ext uri="{BB962C8B-B14F-4D97-AF65-F5344CB8AC3E}">
        <p14:creationId xmlns:p14="http://schemas.microsoft.com/office/powerpoint/2010/main" val="30574003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2026-10-12T17:29:46.4380000Z</dcterms:created>
  <dcterms:modified xsi:type="dcterms:W3CDTF">2026-10-12T17:29:46.4380000Z</dcterms:modified>
</coreProperties>
</file>